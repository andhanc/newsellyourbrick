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1d6922bb0548c9" /><Relationship Type="http://schemas.openxmlformats.org/officeDocument/2006/relationships/extended-properties" Target="/docProps/app.xml" Id="R02e6eb3b0243471b" /><Relationship Type="http://schemas.openxmlformats.org/officeDocument/2006/relationships/officeDocument" Target="/ppt/presentation.xml" Id="R391e2bc4109c4e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4960499ec44196"/>
  </p:sldMasterIdLst>
  <p:notesMasterIdLst>
    <p:notesMasterId xmlns:r="http://schemas.openxmlformats.org/officeDocument/2006/relationships" r:id="R6918d853d78c470a"/>
  </p:notesMasterIdLst>
  <p:sldIdLst>
    <p:sldId xmlns:r="http://schemas.openxmlformats.org/officeDocument/2006/relationships" id="256" r:id="R13d6f5755af042ae"/>
    <p:sldId xmlns:r="http://schemas.openxmlformats.org/officeDocument/2006/relationships" id="257" r:id="R6cffc84cf49b4d68"/>
    <p:sldId xmlns:r="http://schemas.openxmlformats.org/officeDocument/2006/relationships" id="258" r:id="R76abbe0a29224306"/>
    <p:sldId xmlns:r="http://schemas.openxmlformats.org/officeDocument/2006/relationships" id="259" r:id="R194bdffdfc084af9"/>
    <p:sldId xmlns:r="http://schemas.openxmlformats.org/officeDocument/2006/relationships" id="260" r:id="Rc2859cb39d9a440f"/>
    <p:sldId xmlns:r="http://schemas.openxmlformats.org/officeDocument/2006/relationships" id="261" r:id="Rc0ced0a9897f4e05"/>
    <p:sldId xmlns:r="http://schemas.openxmlformats.org/officeDocument/2006/relationships" id="262" r:id="Rbb72f55d86524b4c"/>
    <p:sldId xmlns:r="http://schemas.openxmlformats.org/officeDocument/2006/relationships" id="263" r:id="R7078f41fdc4f40ac"/>
    <p:sldId xmlns:r="http://schemas.openxmlformats.org/officeDocument/2006/relationships" id="264" r:id="Rcb3131af46bd4625"/>
    <p:sldId xmlns:r="http://schemas.openxmlformats.org/officeDocument/2006/relationships" id="265" r:id="Rd2dd415408604f5a"/>
    <p:sldId xmlns:r="http://schemas.openxmlformats.org/officeDocument/2006/relationships" id="266" r:id="R9fd1cf1e42724481"/>
    <p:sldId xmlns:r="http://schemas.openxmlformats.org/officeDocument/2006/relationships" id="267" r:id="R02e092f0bd9a4ef9"/>
    <p:sldId xmlns:r="http://schemas.openxmlformats.org/officeDocument/2006/relationships" id="268" r:id="Ra1fb903a6b8a4f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fe5a7c7f094ae0" /><Relationship Type="http://schemas.openxmlformats.org/officeDocument/2006/relationships/slideMaster" Target="/ppt/slideMasters/slideMaster1.xml" Id="R7b4960499ec44196" /><Relationship Type="http://schemas.openxmlformats.org/officeDocument/2006/relationships/notesMaster" Target="/ppt/notesMasters/notesMaster1.xml" Id="R6918d853d78c470a" /><Relationship Type="http://schemas.openxmlformats.org/officeDocument/2006/relationships/presProps" Target="/ppt/presProps.xml" Id="R6a061689ae564c7e" /><Relationship Type="http://schemas.openxmlformats.org/officeDocument/2006/relationships/tableStyles" Target="/ppt/tableStyles.xml" Id="R109abb38b36440c7" /><Relationship Type="http://schemas.openxmlformats.org/officeDocument/2006/relationships/slide" Target="/ppt/slides/slide1.xml" Id="R13d6f5755af042ae" /><Relationship Type="http://schemas.openxmlformats.org/officeDocument/2006/relationships/slide" Target="/ppt/slides/slide2.xml" Id="R6cffc84cf49b4d68" /><Relationship Type="http://schemas.openxmlformats.org/officeDocument/2006/relationships/slide" Target="/ppt/slides/slide3.xml" Id="R76abbe0a29224306" /><Relationship Type="http://schemas.openxmlformats.org/officeDocument/2006/relationships/slide" Target="/ppt/slides/slide4.xml" Id="R194bdffdfc084af9" /><Relationship Type="http://schemas.openxmlformats.org/officeDocument/2006/relationships/slide" Target="/ppt/slides/slide5.xml" Id="Rc2859cb39d9a440f" /><Relationship Type="http://schemas.openxmlformats.org/officeDocument/2006/relationships/slide" Target="/ppt/slides/slide6.xml" Id="Rc0ced0a9897f4e05" /><Relationship Type="http://schemas.openxmlformats.org/officeDocument/2006/relationships/slide" Target="/ppt/slides/slide7.xml" Id="Rbb72f55d86524b4c" /><Relationship Type="http://schemas.openxmlformats.org/officeDocument/2006/relationships/slide" Target="/ppt/slides/slide8.xml" Id="R7078f41fdc4f40ac" /><Relationship Type="http://schemas.openxmlformats.org/officeDocument/2006/relationships/slide" Target="/ppt/slides/slide9.xml" Id="Rcb3131af46bd4625" /><Relationship Type="http://schemas.openxmlformats.org/officeDocument/2006/relationships/slide" Target="/ppt/slides/slide10.xml" Id="Rd2dd415408604f5a" /><Relationship Type="http://schemas.openxmlformats.org/officeDocument/2006/relationships/slide" Target="/ppt/slides/slide11.xml" Id="R9fd1cf1e42724481" /><Relationship Type="http://schemas.openxmlformats.org/officeDocument/2006/relationships/slide" Target="/ppt/slides/slide12.xml" Id="R02e092f0bd9a4ef9" /><Relationship Type="http://schemas.openxmlformats.org/officeDocument/2006/relationships/slide" Target="/ppt/slides/slide13.xml" Id="Ra1fb903a6b8a4f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e453f123f74f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f773ffcd8e4b53" /><Relationship Type="http://schemas.openxmlformats.org/officeDocument/2006/relationships/notesMaster" Target="/ppt/notesMasters/notesMaster1.xml" Id="Rd48ecd7a4e9e4e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428d796f87461e" /><Relationship Type="http://schemas.openxmlformats.org/officeDocument/2006/relationships/notesMaster" Target="/ppt/notesMasters/notesMaster1.xml" Id="R24efa4289ae945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e69c84b00348d4" /><Relationship Type="http://schemas.openxmlformats.org/officeDocument/2006/relationships/notesMaster" Target="/ppt/notesMasters/notesMaster1.xml" Id="R1b9320dd3cdf40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f82d6a15d24af4" /><Relationship Type="http://schemas.openxmlformats.org/officeDocument/2006/relationships/notesMaster" Target="/ppt/notesMasters/notesMaster1.xml" Id="Rafe7cd00dc4049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ee20036a1943e3" /><Relationship Type="http://schemas.openxmlformats.org/officeDocument/2006/relationships/notesMaster" Target="/ppt/notesMasters/notesMaster1.xml" Id="Rab31515d18a34d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64e2f2207c434c" /><Relationship Type="http://schemas.openxmlformats.org/officeDocument/2006/relationships/notesMaster" Target="/ppt/notesMasters/notesMaster1.xml" Id="R0abb1fdeee1b46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4a278d75bf47b1" /><Relationship Type="http://schemas.openxmlformats.org/officeDocument/2006/relationships/notesMaster" Target="/ppt/notesMasters/notesMaster1.xml" Id="R11152f0b79b842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2cc4cd839b4325" /><Relationship Type="http://schemas.openxmlformats.org/officeDocument/2006/relationships/notesMaster" Target="/ppt/notesMasters/notesMaster1.xml" Id="R5ff413c743e846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97ab296cd04b38" /><Relationship Type="http://schemas.openxmlformats.org/officeDocument/2006/relationships/notesMaster" Target="/ppt/notesMasters/notesMaster1.xml" Id="Rd111d2a86aee41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1419a7380c4ffb" /><Relationship Type="http://schemas.openxmlformats.org/officeDocument/2006/relationships/notesMaster" Target="/ppt/notesMasters/notesMaster1.xml" Id="R97f95d02188d48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231a0035d14ea7" /><Relationship Type="http://schemas.openxmlformats.org/officeDocument/2006/relationships/notesMaster" Target="/ppt/notesMasters/notesMaster1.xml" Id="R4fe86ef1d9da43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b7e09b29674b58" /><Relationship Type="http://schemas.openxmlformats.org/officeDocument/2006/relationships/notesMaster" Target="/ppt/notesMasters/notesMaster1.xml" Id="R5d986e87e8c04c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1d7898f347442e2" /><Relationship Type="http://schemas.openxmlformats.org/officeDocument/2006/relationships/notesMaster" Target="/ppt/notesMasters/notesMaster1.xml" Id="Rcdf58c21287d4f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public/images/sellyourbrick/about/about-hero-spain.jpg</a:t>
            </a:r>
          </a:p>
          <a:p xmlns:a="http://schemas.openxmlformats.org/drawingml/2006/main">
            <a:r>
              <a:t>- audit/mobile/BRANDBOOK.md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public/images/sellyourbrick/about/mission-villa.jpg</a:t>
            </a:r>
          </a:p>
          <a:p xmlns:a="http://schemas.openxmlformats.org/drawingml/2006/main">
            <a:r>
              <a:t>- audit/mobile/BRANDBOOK.md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audit/mobile/BRANDBOOK.md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audit/mobile/BRANDBOOK.md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audit/mobile/BRANDBOOK.md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audit/mobile/BRANDBOOK.md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audit/mobile/BRANDBOOK.md</a:t>
            </a:r>
          </a:p>
          <a:p xmlns:a="http://schemas.openxmlformats.org/drawingml/2006/main">
            <a:r>
              <a:t>- audit/mobile/screenshots/08-about.png</a:t>
            </a:r>
          </a:p>
          <a:p xmlns:a="http://schemas.openxmlformats.org/drawingml/2006/main">
            <a:r>
              <a:t>- audit/mobile/screenshots/09-news.png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audit/mobile/BRANDBOOK.md</a:t>
            </a:r>
          </a:p>
          <a:p xmlns:a="http://schemas.openxmlformats.org/drawingml/2006/main">
            <a:r>
              <a:t>- public/images/sellyourbrick/strategies/strategy-auction.jpg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public/images/sellyourbrick/strategies/strategy-buy-now.jpg</a:t>
            </a:r>
          </a:p>
          <a:p xmlns:a="http://schemas.openxmlformats.org/drawingml/2006/main">
            <a:r>
              <a:t>- public/images/sellyourbrick/strategies/strategy-debts.jpg</a:t>
            </a:r>
          </a:p>
          <a:p xmlns:a="http://schemas.openxmlformats.org/drawingml/2006/main">
            <a:r>
              <a:t>- public/images/sellyourbrick/strategies/strategy-shares.jpg</a:t>
            </a:r>
          </a:p>
          <a:p xmlns:a="http://schemas.openxmlformats.org/drawingml/2006/main">
            <a:r>
              <a:t>- public/images/test-drive/hero-resort-mobile.png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audit/mobile/screenshots/03-auction.png</a:t>
            </a:r>
          </a:p>
          <a:p xmlns:a="http://schemas.openxmlformats.org/drawingml/2006/main">
            <a:r>
              <a:t>- audit/mobile/screenshots/04-shares.png</a:t>
            </a:r>
          </a:p>
          <a:p xmlns:a="http://schemas.openxmlformats.org/drawingml/2006/main">
            <a:r>
              <a:t>- audit/mobile/screenshots/05-debts.png</a:t>
            </a:r>
          </a:p>
          <a:p xmlns:a="http://schemas.openxmlformats.org/drawingml/2006/main">
            <a:r>
              <a:t>- audit/mobile/screenshots/06-test-drive.png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audit/mobile/screenshots/12-favorites.png</a:t>
            </a:r>
          </a:p>
          <a:p xmlns:a="http://schemas.openxmlformats.org/drawingml/2006/main">
            <a:r>
              <a:t>- audit/mobile/screenshots/13-deposit.png</a:t>
            </a:r>
          </a:p>
          <a:p xmlns:a="http://schemas.openxmlformats.org/drawingml/2006/main">
            <a:r>
              <a:t>- audit/mobile/screenshots/14-property.png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audit/mobile/screenshots/03-auction.png</a:t>
            </a:r>
          </a:p>
          <a:p xmlns:a="http://schemas.openxmlformats.org/drawingml/2006/main">
            <a:r>
              <a:t>- audit/mobile/screenshots/10-smart-investor.png</a:t>
            </a:r>
          </a:p>
          <a:p xmlns:a="http://schemas.openxmlformats.org/drawingml/2006/main">
            <a:r>
              <a:t>- audit/mobile/BRANDBOOK.md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audit/mobile/BRANDBOOK.md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52181ac9a348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8bd0a7da1c491e" /><Relationship Type="http://schemas.openxmlformats.org/officeDocument/2006/relationships/slideLayout" Target="/ppt/slideLayouts/slideLayout1.xml" Id="R47e5ab3046504e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e5ab3046504e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c2aae58264010" /><Relationship Type="http://schemas.openxmlformats.org/officeDocument/2006/relationships/image" Target="/ppt/media/image.jpeg" Id="R8095f552b4b341c7" /><Relationship Type="http://schemas.openxmlformats.org/officeDocument/2006/relationships/notesSlide" Target="/ppt/notesSlides/notesSlide1.xml" Id="Rdd697b8b8b3f4d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085f61bdb4f1d" /><Relationship Type="http://schemas.openxmlformats.org/officeDocument/2006/relationships/image" Target="/ppt/media/image.png" Id="R50930af1639b4fa7" /><Relationship Type="http://schemas.openxmlformats.org/officeDocument/2006/relationships/notesSlide" Target="/ppt/notesSlides/notesSlide2.xml" Id="R10b7a2940e5343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34c5013c34269" /><Relationship Type="http://schemas.openxmlformats.org/officeDocument/2006/relationships/notesSlide" Target="/ppt/notesSlides/notesSlide3.xml" Id="R6314625253894b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c1aa1614c48e1" /><Relationship Type="http://schemas.openxmlformats.org/officeDocument/2006/relationships/notesSlide" Target="/ppt/notesSlides/notesSlide4.xml" Id="R2aa075209e7846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082ee2b914dc0" /><Relationship Type="http://schemas.openxmlformats.org/officeDocument/2006/relationships/notesSlide" Target="/ppt/notesSlides/notesSlide5.xml" Id="R67b0ff72f84640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2d67a349a4ba2" /><Relationship Type="http://schemas.openxmlformats.org/officeDocument/2006/relationships/notesSlide" Target="/ppt/notesSlides/notesSlide6.xml" Id="Rc0954770305c40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f2e02d1c24803" /><Relationship Type="http://schemas.openxmlformats.org/officeDocument/2006/relationships/image" Target="/ppt/media/image2.jpeg" Id="R3b31aa9282f14356" /><Relationship Type="http://schemas.openxmlformats.org/officeDocument/2006/relationships/image" Target="/ppt/media/image3.jpeg" Id="R9cd7fb3b38c2434b" /><Relationship Type="http://schemas.openxmlformats.org/officeDocument/2006/relationships/notesSlide" Target="/ppt/notesSlides/notesSlide7.xml" Id="R0f164d9b83cf4cf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9685936844f3b" /><Relationship Type="http://schemas.openxmlformats.org/officeDocument/2006/relationships/image" Target="/ppt/media/image2.png" Id="Rb55c3e47dfc045e7" /><Relationship Type="http://schemas.openxmlformats.org/officeDocument/2006/relationships/notesSlide" Target="/ppt/notesSlides/notesSlide8.xml" Id="R0f115e06e5b741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a196843d4430c" /><Relationship Type="http://schemas.openxmlformats.org/officeDocument/2006/relationships/image" Target="/ppt/media/image3.png" Id="Rd769ef5fff8e4d83" /><Relationship Type="http://schemas.openxmlformats.org/officeDocument/2006/relationships/image" Target="/ppt/media/image4.png" Id="R6f2505cc31ce493b" /><Relationship Type="http://schemas.openxmlformats.org/officeDocument/2006/relationships/image" Target="/ppt/media/image5.png" Id="R48f863ab45bc4cee" /><Relationship Type="http://schemas.openxmlformats.org/officeDocument/2006/relationships/image" Target="/ppt/media/image6.png" Id="R201a845bcaf54829" /><Relationship Type="http://schemas.openxmlformats.org/officeDocument/2006/relationships/notesSlide" Target="/ppt/notesSlides/notesSlide9.xml" Id="Rb5bbe2ae52e944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2c3e6496b416f" /><Relationship Type="http://schemas.openxmlformats.org/officeDocument/2006/relationships/image" Target="/ppt/media/image4.jpeg" Id="Re11f3953f9e14aae" /><Relationship Type="http://schemas.openxmlformats.org/officeDocument/2006/relationships/image" Target="/ppt/media/image5.jpeg" Id="R63b32708ceea47a2" /><Relationship Type="http://schemas.openxmlformats.org/officeDocument/2006/relationships/image" Target="/ppt/media/image6.jpeg" Id="Rdf7a0789d60f4095" /><Relationship Type="http://schemas.openxmlformats.org/officeDocument/2006/relationships/image" Target="/ppt/media/image7.jpeg" Id="R227bcf9b15574765" /><Relationship Type="http://schemas.openxmlformats.org/officeDocument/2006/relationships/notesSlide" Target="/ppt/notesSlides/notesSlide10.xml" Id="R62f2ca2d313749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7677ebc2a4ca7" /><Relationship Type="http://schemas.openxmlformats.org/officeDocument/2006/relationships/image" Target="/ppt/media/image8.jpeg" Id="R67fb933e2848492e" /><Relationship Type="http://schemas.openxmlformats.org/officeDocument/2006/relationships/image" Target="/ppt/media/image9.jpeg" Id="R9533b5e605c64e71" /><Relationship Type="http://schemas.openxmlformats.org/officeDocument/2006/relationships/image" Target="/ppt/media/image10.jpeg" Id="Re17bc8a9985a43f4" /><Relationship Type="http://schemas.openxmlformats.org/officeDocument/2006/relationships/notesSlide" Target="/ppt/notesSlides/notesSlide11.xml" Id="Rbc56930b196c47e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d57042fd64c7f" /><Relationship Type="http://schemas.openxmlformats.org/officeDocument/2006/relationships/image" Target="/ppt/media/image11.jpeg" Id="R878cffb5ba624fa3" /><Relationship Type="http://schemas.openxmlformats.org/officeDocument/2006/relationships/image" Target="/ppt/media/image12.jpeg" Id="R76c185a07bf54f8f" /><Relationship Type="http://schemas.openxmlformats.org/officeDocument/2006/relationships/notesSlide" Target="/ppt/notesSlides/notesSlide12.xml" Id="Rb5842f005d3f47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9d2453ae44cd2" /><Relationship Type="http://schemas.openxmlformats.org/officeDocument/2006/relationships/notesSlide" Target="/ppt/notesSlides/notesSlide13.xml" Id="R937dde218f4f43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5f552b4b341c7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E0307-4D4F-4F91-8A7F-95839C5E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F172A">
                  <a:alpha val="94000"/>
                </a:srgbClr>
              </a:gs>
              <a:gs pos="42000">
                <a:srgbClr val="0F172A">
                  <a:alpha val="76000"/>
                </a:srgbClr>
              </a:gs>
              <a:gs pos="100000">
                <a:srgbClr val="0F172A">
                  <a:alpha val="18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FA0A31-405D-4DA4-8FC8-89E28BA6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842010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3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93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C0BEF-0A10-4F23-9BAD-B4CDDCC7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625793"/>
            <a:ext cx="890588" cy="437198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E6902-3B7F-4C04-BD88-6A33EF80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" y="609600"/>
            <a:ext cx="85820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3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93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Your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EF1C2-B127-40BB-9756-FD94855D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486" y="609600"/>
            <a:ext cx="1036320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3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93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Brick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14758-3ADE-402E-91EF-98B1B951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286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5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ВИЗУАЛЬНЫЙ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5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БРЕНДБУК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B09F0F-1AC7-433A-A125-04B3084C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FFFFFF">
                    <a:alpha val="8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725" b="0" i="0">
                <a:solidFill>
                  <a:srgbClr val="FFFFFF">
                    <a:alpha val="82000"/>
                  </a:srgbClr>
                </a:solidFill>
                <a:latin typeface="Montserrat"/>
                <a:ea typeface="Montserrat"/>
                <a:cs typeface="Montserrat"/>
              </a:rPr>
              <a:t>Недвижимость. Ясные цифры. Один Tiffany-акцент.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48761-83D8-4903-A3AC-79F9EB6C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7716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760C1-F52B-4070-B3F1-6C3691ED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771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BRAND SYSTEM 1.0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E63DF-0796-4638-AC52-800105EF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FFFFFF">
                    <a:alpha val="7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FFFFF">
                    <a:alpha val="70000"/>
                  </a:srgbClr>
                </a:solidFill>
                <a:latin typeface="Montserrat"/>
                <a:ea typeface="Montserrat"/>
                <a:cs typeface="Montserrat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047779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5C36A6-5D42-47D6-A948-3379A69A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01 / ХАРАКТЕР БРЕНДА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DAEC2-4BD6-49A6-9F1B-97F0C314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4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Спокойная премиальность, которой верят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30af1639b4fa7"/>
          <a:srcRect xmlns:a="http://schemas.openxmlformats.org/drawingml/2006/main" l="5505" t="0" r="55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90700"/>
            <a:ext cx="5619750" cy="4210050"/>
          </a:xfrm>
          <a:prstGeom xmlns:a="http://schemas.openxmlformats.org/drawingml/2006/main" prst="roundRect">
            <a:avLst>
              <a:gd name="adj" fmla="val 633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044BC-781B-42DD-84FA-CB3B867F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5067300" cy="12001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902FC-2E12-48F2-8E8B-61E38E8F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76450"/>
            <a:ext cx="426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РЕАЛЬНАЯ НЕДВИЖИМОСТЬ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6727A-5B62-4635-B882-65485766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193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6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Фотография создаёт желание и доверие.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E945E-58FE-4918-ACD9-7FAD9299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5067300" cy="12001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392C3-044B-48F4-8687-A05B89520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48050"/>
            <a:ext cx="426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ЯСНЫЕ ЦИФРЫ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86FBC-D9EE-4934-AB43-F903A334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909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Цена, риск и действие видны сразу.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278FBD-FA68-4CB9-AC43-58A741C9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52950"/>
            <a:ext cx="5067300" cy="12001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52B64-8650-4DC2-9FFA-A1E29478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19650"/>
            <a:ext cx="426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4ECDD6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4ECDD6"/>
                </a:solidFill>
                <a:latin typeface="Montserrat"/>
                <a:ea typeface="Montserrat"/>
                <a:cs typeface="Montserrat"/>
              </a:rPr>
              <a:t>ОДИН АКЦЕНТ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8D9A3-A821-46B8-9620-C5F39BEB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62550"/>
            <a:ext cx="4267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Tiffany направляет, а не шумит.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5080F9-84BB-4BC1-9D5B-0BFF6293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VISUAL BRAND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E4D6F-D5FB-4F36-8567-612CB3E1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44696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13416C-4DAA-430F-9E51-F4614351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02 / ЛОГОТИП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8C43F-4563-4D9A-8D8C-98355705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63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Your — единственное слово, которое получает цвет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FD37E-7E66-4D26-AB76-833E5571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406652" cy="78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899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4899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Sell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0D39E-3175-4098-B142-24382A5A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60651"/>
            <a:ext cx="1487805" cy="730377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0A811-8CDC-49F3-9CC6-91F6D653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853" y="2133600"/>
            <a:ext cx="1433703" cy="78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899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899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Your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F601B-8FE0-4467-B29B-9A084495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184" y="2133600"/>
            <a:ext cx="1731264" cy="7844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899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4899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Brick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47284-3AE7-4F94-BE60-66B15EF7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3E518-9B22-42DA-88DD-02EEE427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314950" cy="2038350"/>
          </a:xfrm>
          <a:prstGeom xmlns:a="http://schemas.openxmlformats.org/drawingml/2006/main" prst="roundRect">
            <a:avLst>
              <a:gd name="adj" fmla="val 1308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076088-77BE-467C-96EA-50C406A8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851916" cy="475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67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967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D7091-9786-4F55-ABF0-65051340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21683"/>
            <a:ext cx="901065" cy="442341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DB0D33-2EE5-41C4-BAF2-E7848028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4149" y="4305300"/>
            <a:ext cx="868299" cy="475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67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967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Your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FDF551-7C49-4C6B-9DBD-F0FFF812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405" y="4305300"/>
            <a:ext cx="1048512" cy="475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67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967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Brick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AF672-45E0-45B6-84FD-A45C45CB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00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FFFFFF">
                    <a:alpha val="7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FFFFFF">
                    <a:alpha val="70000"/>
                  </a:srgbClr>
                </a:solidFill>
                <a:latin typeface="Montserrat"/>
                <a:ea typeface="Montserrat"/>
                <a:cs typeface="Montserrat"/>
              </a:rPr>
              <a:t>На фотографии и тёмной поверхности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69C88-DFF5-42A8-864D-A7C149F9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14750"/>
            <a:ext cx="5314950" cy="2038350"/>
          </a:xfrm>
          <a:prstGeom xmlns:a="http://schemas.openxmlformats.org/drawingml/2006/main" prst="roundRect">
            <a:avLst>
              <a:gd name="adj" fmla="val 13084"/>
            </a:avLst>
          </a:prstGeom>
          <a:solidFill xmlns:a="http://schemas.openxmlformats.org/drawingml/2006/main">
            <a:srgbClr val="F0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ABB133-F652-4AF0-A999-C5F9C64E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05300"/>
            <a:ext cx="851916" cy="475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67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967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Sell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1B888-E958-49FA-8E2B-D775C0DA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21683"/>
            <a:ext cx="901065" cy="442341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00A8A6-30E7-4DA6-9A7C-776445EE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1999" y="4305300"/>
            <a:ext cx="868299" cy="475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67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967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Your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11307-E7CE-4DCC-A916-681DC042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256" y="4305300"/>
            <a:ext cx="1048512" cy="4751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67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967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Brick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F76F4-0FC2-490E-B80A-C8E3D299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00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На светлом редакционном холсте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8B024F-BE58-4A87-A493-47473876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57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475569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475569"/>
                </a:solidFill>
                <a:latin typeface="Montserrat"/>
                <a:ea typeface="Montserrat"/>
                <a:cs typeface="Montserrat"/>
              </a:rPr>
              <a:t>Не менять регистр: Sell Your Brick — логотип, SellYourBrick — текстовое имя продукта.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A7BBFA-3065-4B8D-A20C-B7B86646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VISUAL BRAND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F918A-3F64-49DB-9210-7A0203A5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77141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076B7A-AA82-4348-B632-CE8434F8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03 / ЦВЕТ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DA666-A765-4400-9563-8A8D341A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Tiffany узнаваем, когда его немного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28FFD-83FE-49E0-B2CF-A3BB1185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087880" cy="2819400"/>
          </a:xfrm>
          <a:prstGeom xmlns:a="http://schemas.openxmlformats.org/drawingml/2006/main" prst="roundRect">
            <a:avLst>
              <a:gd name="adj" fmla="val 10949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A8D3A1-9451-42A6-969C-36BDD694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17449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BRAND TIFFANY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94106-F161-47C5-9BEE-7E5259FD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7449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#0099A9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62D7A-9580-40D9-874E-D892470B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0830" y="1962150"/>
            <a:ext cx="2087880" cy="2819400"/>
          </a:xfrm>
          <a:prstGeom xmlns:a="http://schemas.openxmlformats.org/drawingml/2006/main" prst="roundRect">
            <a:avLst>
              <a:gd name="adj" fmla="val 10949"/>
            </a:avLst>
          </a:prstGeom>
          <a:solidFill xmlns:a="http://schemas.openxmlformats.org/drawingml/2006/main">
            <a:srgbClr val="00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4EA4C-C9D2-4968-B95D-5E3A3FCF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3752850"/>
            <a:ext cx="17449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ACCESSIBLE CTA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1CC45-8F44-45A7-81A6-27F68458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2280" y="4248150"/>
            <a:ext cx="17449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#007D8A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7C849-EB10-45FA-93A2-64CE1C11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962150"/>
            <a:ext cx="2087880" cy="2819400"/>
          </a:xfrm>
          <a:prstGeom xmlns:a="http://schemas.openxmlformats.org/drawingml/2006/main" prst="roundRect">
            <a:avLst>
              <a:gd name="adj" fmla="val 10949"/>
            </a:avLst>
          </a:prstGeom>
          <a:solidFill xmlns:a="http://schemas.openxmlformats.org/drawingml/2006/main">
            <a:srgbClr val="0066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486BB-F0D9-4C00-ABD5-81EEC718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0" y="3752850"/>
            <a:ext cx="17449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PRESSED / DEEP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7F1270-E635-4FFD-8A18-4141F6CA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0" y="4248150"/>
            <a:ext cx="17449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#006672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5953D-DBD8-4FEE-893A-290DBCCC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290" y="1962150"/>
            <a:ext cx="2087880" cy="2819400"/>
          </a:xfrm>
          <a:prstGeom xmlns:a="http://schemas.openxmlformats.org/drawingml/2006/main" prst="roundRect">
            <a:avLst>
              <a:gd name="adj" fmla="val 10949"/>
            </a:avLst>
          </a:prstGeom>
          <a:solidFill xmlns:a="http://schemas.openxmlformats.org/drawingml/2006/main">
            <a:srgbClr val="4EC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BC818-AEC8-43B4-8FB6-F3724283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3752850"/>
            <a:ext cx="17449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DECORATIVE LIGHT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AE7B3-9541-4E10-930E-111277DC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4248150"/>
            <a:ext cx="17449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#4ECDD6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4B210-4E62-4AC0-9DB8-F0A429D2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4520" y="1962150"/>
            <a:ext cx="2087880" cy="2819400"/>
          </a:xfrm>
          <a:prstGeom xmlns:a="http://schemas.openxmlformats.org/drawingml/2006/main" prst="roundRect">
            <a:avLst>
              <a:gd name="adj" fmla="val 10949"/>
            </a:avLst>
          </a:prstGeom>
          <a:solidFill xmlns:a="http://schemas.openxmlformats.org/drawingml/2006/main">
            <a:srgbClr val="F0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10BB98-EBA7-42A0-9925-2DD576B0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3752850"/>
            <a:ext cx="17449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SOFT SURFACE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42920-97E1-4B85-9DB7-94E07DE4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4248150"/>
            <a:ext cx="17449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#F0FAFB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A8B2F4-880E-4D71-BF9C-49645C46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EDEAB-EABE-424B-9AFF-D8CDA504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245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#0F172A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E71096-8F71-44AA-AFFC-7A7FBC8F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197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SURFACE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1C29E-CA3E-4942-9CDB-44FD89C8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#FFFFFF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6DCF0D-E835-4025-A56E-B2E0E5E1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197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LINE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FAA25-FF78-4C07-A468-B768F731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5245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#E2E8F0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AC4ABB-8614-49FB-B3AA-DC5D8E23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124450"/>
            <a:ext cx="40767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3BE021-5D6A-4CED-B7C5-0B83F687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62575"/>
            <a:ext cx="346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07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Правило: один цветовой акцент на блок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E1212C-6DD1-4AE5-9EE0-65552A8D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VISUAL BRAND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A689DD-424A-41BC-9B15-75E649DE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7298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4B306-3457-4507-BE2D-F78129F6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04 / ДОСТУПНОСТЬ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8558F-5545-4A75-AFA7-45D8554B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Один Tiffany — разные роли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21351-E75D-41C6-9B0A-B5971A77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314325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4EC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2C887-F166-4B62-A8D9-272D3D55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B91C1C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B91C1C"/>
                </a:solidFill>
                <a:latin typeface="Montserrat"/>
                <a:ea typeface="Montserrat"/>
                <a:cs typeface="Montserrat"/>
              </a:rPr>
              <a:t>НЕ ТАК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D3C51-828E-4B97-A498-495371C1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Белый текст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09AFD-1A2B-44BC-ACA2-60244C0B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1.90 :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7216C-409D-4B93-B4FE-CC3CF404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#4ECDD6 + white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01B9E-50D7-4C7E-B5DB-59AE22F4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43100"/>
            <a:ext cx="3352800" cy="314325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00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668A2-9EF4-4216-8EED-EB59BF47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479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ТАК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C4A00-7CA6-44DF-BD10-0BA4B8AC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2819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Белый текст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5B5871-621B-4389-81F2-908AC124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4.88 :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2876C-E2D3-4052-A456-8074BD9F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95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FFFFFF">
                    <a:alpha val="8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FFFFFF">
                    <a:alpha val="82000"/>
                  </a:srgbClr>
                </a:solidFill>
                <a:latin typeface="Montserrat"/>
                <a:ea typeface="Montserrat"/>
                <a:cs typeface="Montserrat"/>
              </a:rPr>
              <a:t>#007D8A + white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8A2D3-5B4E-4256-B20A-B96E75B7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43100"/>
            <a:ext cx="3581400" cy="3143250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4EC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B94B61-FABB-426D-8DF8-49010F18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47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ЕЩЁ ЛУЧШЕ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D99540-CF18-41AB-8DB0-3E04CC8B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0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Ink-текст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25598-8C13-4BF5-BEF5-307765D8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9.37 :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B076D-BFCA-4E14-ACCC-E7A922C5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95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475569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475569"/>
                </a:solidFill>
                <a:latin typeface="Montserrat"/>
                <a:ea typeface="Montserrat"/>
                <a:cs typeface="Montserrat"/>
              </a:rPr>
              <a:t>#4ECDD6 + 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223961-A3F4-4853-BE2F-DEE85908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Tiffany Light — декор. Tiffany Dark — интерактив. Ink — основной текст.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4C4C9-2517-4C6F-AB2F-742EEF30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VISUAL BRAND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708C45-D27A-4D75-BF71-DC600B3B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52366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17A126-0D81-4F4F-AD26-14DD7408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05 / ТИПОГРАФИКА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8178C-4542-4FBC-8760-DF377F4C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Montserrat держит продукт собранным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BA7B4-263F-4A29-8C4C-28A4AECE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622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  <a:defRPr sz="8850" b="1" i="0">
                <a:solidFill>
                  <a:srgbClr val="0099A9"/>
                </a:solidFill>
                <a:latin typeface="Montserrat"/>
                <a:ea typeface="Montserrat"/>
                <a:cs typeface="Montserrat"/>
              </a:defRPr>
            </a:pPr>
            <a:r>
              <a:rPr sz="8850" b="1" i="0">
                <a:solidFill>
                  <a:srgbClr val="0099A9"/>
                </a:solidFill>
                <a:latin typeface="Montserrat"/>
                <a:ea typeface="Montserrat"/>
                <a:cs typeface="Montserrat"/>
              </a:rPr>
              <a:t>Aa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1F823-BAA3-4AA3-AF0D-ACC4EA08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MONTSERRAT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D551A-75CB-4AC5-9F28-FB9025ED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Display / 800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A3E5A-439D-4D76-B31E-A1204453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193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Недвижимость без лишних барьеров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C6D754-8E9F-49A9-BB27-B19CA210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62300"/>
            <a:ext cx="683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8D9E9-2CCE-4E6B-BF70-3590E5E0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909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Title / 700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A7E08-D7EC-4CCA-8D29-AD3F6A4C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100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Условия, доступность и прогноз видны до покупки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13CF4-A779-4E81-9FCA-AF8A48BA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438650"/>
            <a:ext cx="683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51461-0321-483B-B5C3-24E2F55A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863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Body / 400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43B6B-15F3-400C-B481-01446434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8635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475569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475569"/>
                </a:solidFill>
                <a:latin typeface="Montserrat"/>
                <a:ea typeface="Montserrat"/>
                <a:cs typeface="Montserrat"/>
              </a:rPr>
              <a:t>Спокойный ритм, ясная формулировка и достаточно воздуха между строками.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5635C7-6C4F-4EC1-8E43-CF27ED60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3009900" cy="16764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4B7B4-6619-4D04-92B9-DD648E92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2250" b="1" i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Playfair Display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09FBA-60C9-48EB-A839-BBBA6D3A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FFFFFF">
                    <a:alpha val="7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FFFFFF">
                    <a:alpha val="72000"/>
                  </a:srgbClr>
                </a:solidFill>
                <a:latin typeface="Montserrat"/>
                <a:ea typeface="Montserrat"/>
                <a:cs typeface="Montserrat"/>
              </a:rPr>
              <a:t>Только editorial: истории, журнал, манифест.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5FC6B-C973-4549-95CD-BE54012C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VISUAL BRAND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10BBB-CFA0-4D78-ADC1-2B56A83F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980633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8AE609-785C-4E0C-A289-BCFE7B23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06 / ВИЗУАЛЬНЫЙ ЯЗЫК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BFB6C-FE2B-4E56-945B-829362E0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4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Выделяем только то, что помогает решить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75024-83F5-429D-9E5F-6899AE5B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353050" cy="4076700"/>
          </a:xfrm>
          <a:prstGeom xmlns:a="http://schemas.openxmlformats.org/drawingml/2006/main" prst="roundRect">
            <a:avLst>
              <a:gd name="adj" fmla="val 700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451F9-D2E9-4873-B009-C4EBF669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2228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ЧЕТЫРЕ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CE898-B6F0-46B0-8616-971FD818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66950"/>
            <a:ext cx="2190750" cy="495300"/>
          </a:xfrm>
          <a:prstGeom xmlns:a="http://schemas.openxmlformats.org/drawingml/2006/main" prst="roundRect">
            <a:avLst>
              <a:gd name="adj" fmla="val 34615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C43978-4E09-4B94-8596-395DEFB1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СТРАТЕГИИ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2028D-6DBE-4AD9-BBE6-0915CE65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ПРОДАЖИ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BA6259-6C98-4FD4-82B7-172AB2F4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4ECDD6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4ECDD6"/>
                </a:solidFill>
                <a:latin typeface="Montserrat"/>
                <a:ea typeface="Montserrat"/>
                <a:cs typeface="Montserrat"/>
              </a:rPr>
              <a:t>01  CAPS KICKER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354DB-2D0E-4058-9291-FF185F5E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Одно ключевое слово получает Tiffany-плашку.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CC6AC-058A-4A3F-9A36-72D9FA4A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390525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DB6A4-269C-4821-9C77-AA8DB6F1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Смотреть объекты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5F439-1211-4153-A9E3-9EDA44FE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816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C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EDB68-F06E-42EA-8F9C-70DBC031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816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↓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1aa9282f14356"/>
          <a:srcRect xmlns:a="http://schemas.openxmlformats.org/drawingml/2006/main" l="0" t="9473" r="0" b="9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1885950"/>
            <a:ext cx="2324100" cy="4076700"/>
          </a:xfrm>
          <a:prstGeom xmlns:a="http://schemas.openxmlformats.org/drawingml/2006/main" prst="roundRect">
            <a:avLst>
              <a:gd name="adj" fmla="val 11475"/>
            </a:avLst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7fb3b38c2434b"/>
          <a:srcRect xmlns:a="http://schemas.openxmlformats.org/drawingml/2006/main" l="0" t="9473" r="0" b="94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05900" y="1885950"/>
            <a:ext cx="2324100" cy="4076700"/>
          </a:xfrm>
          <a:prstGeom xmlns:a="http://schemas.openxmlformats.org/drawingml/2006/main" prst="roundRect">
            <a:avLst>
              <a:gd name="adj" fmla="val 11475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6194C-C7B2-4564-BF76-DE12D731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0769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ФОТО + OVERLAY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C62B2-B1FA-46AC-A506-C4F367F3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0769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EDITORIAL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036F7-195B-462B-8462-E20A3AF4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VISUAL BRAND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A01B7-588D-4F42-92A5-ABB302A5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76319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9D1189-067E-4E8F-A82E-13044773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07 / КОМПОНЕНТЫ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F13F2-3139-4BC4-B9FD-0DEBB837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Один набор компонентов на весь путь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2D0D1-77CC-4A4E-9A0A-C3FDDAAA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BUTTONS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14C1F-0953-4241-AF3D-BC14B246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8956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2437E-C723-4F82-94ED-9C7B844B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Смотреть объекты  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5DB53-3643-4DA2-ADCD-F67103CD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09800"/>
            <a:ext cx="28956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17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3783C-030F-4067-8154-3CE43BD0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0980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Сравнить объекты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DE155-1F1B-43C5-963D-EC0C84A5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289560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ECD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54C78-7B77-41E3-9A20-062BDC8B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Рассчитать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B86D6-276E-4CAB-A22B-6B88BB04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PROPERTY 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E5781-AAF4-49B1-907D-A8E112BB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5219700" cy="2076450"/>
          </a:xfrm>
          <a:prstGeom xmlns:a="http://schemas.openxmlformats.org/drawingml/2006/main" prst="roundRect">
            <a:avLst>
              <a:gd name="adj" fmla="val 110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5c3e47dfc045e7"/>
          <a:srcRect xmlns:a="http://schemas.openxmlformats.org/drawingml/2006/main" l="14832" t="0" r="148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676650"/>
            <a:ext cx="2190750" cy="2076450"/>
          </a:xfrm>
          <a:prstGeom xmlns:a="http://schemas.openxmlformats.org/drawingml/2006/main" prst="roundRect">
            <a:avLst>
              <a:gd name="adj" fmla="val 11009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2A6A8-26A0-4A3B-BB8D-8F8694F1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886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АУКЦИОН ИДЁТ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1E148-74B3-4EF0-80B2-7C9BC6C0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481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7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Вилла на побережье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C9BD69-1A80-49F2-A108-19C5C59C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10125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Марбелья, Испания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FF17F-EB59-45F7-B924-6849DA16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57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€248 000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E52B9-1757-4A7E-B570-9BE87BDF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56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99268-2A38-494B-B62B-3229B90A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1428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3CD0C2-474A-4C95-92F8-74FD4DC9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766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15803D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15803D"/>
                </a:solidFill>
                <a:latin typeface="Montserrat"/>
                <a:ea typeface="Montserrat"/>
                <a:cs typeface="Montserrat"/>
              </a:rPr>
              <a:t>Низкий риск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05471F-5B65-45B5-8D13-AC2B0095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76650"/>
            <a:ext cx="1619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E802F-DDC7-4C07-8C7E-9F151370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766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B45309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B45309"/>
                </a:solidFill>
                <a:latin typeface="Montserrat"/>
                <a:ea typeface="Montserrat"/>
                <a:cs typeface="Montserrat"/>
              </a:rPr>
              <a:t>Средний риск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65DE94-22F2-461F-B1CD-C94BBC42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76650"/>
            <a:ext cx="14668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F6D955-D5E0-4A94-8952-825CBEA1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766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B91C1C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B91C1C"/>
                </a:solidFill>
                <a:latin typeface="Montserrat"/>
                <a:ea typeface="Montserrat"/>
                <a:cs typeface="Montserrat"/>
              </a:rPr>
              <a:t>Высокий риск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F92B49-F7F3-4495-8F1A-5EF655FD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148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Форма следует задаче: status → объект → локация → цена → действие.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B158D7-790B-429E-9F33-7B08B61E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91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Радиус 18 px  •  Touch 44 px  •  Border #E2E8F0  •  Одна primary CTA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9621E3-0322-442D-9B32-6311FB35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VISUAL BRAND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C6E14E-D4AE-4E6E-B8CD-C1E86C35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326074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D1AFC-008D-45FF-B46F-70E9C92E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4ECDD6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4ECDD6"/>
                </a:solidFill>
                <a:latin typeface="Montserrat"/>
                <a:ea typeface="Montserrat"/>
                <a:cs typeface="Montserrat"/>
              </a:rPr>
              <a:t>08 / ИЗОБРАЖЕНИЯ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7C053-5C1B-429E-B9DE-1DFC8971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Фотография создаёт премиальность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9ef5fff8e4d83"/>
          <a:srcRect xmlns:a="http://schemas.openxmlformats.org/drawingml/2006/main" l="22698" t="0" r="226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847850"/>
            <a:ext cx="3276600" cy="4000500"/>
          </a:xfrm>
          <a:prstGeom xmlns:a="http://schemas.openxmlformats.org/drawingml/2006/main" prst="roundRect">
            <a:avLst>
              <a:gd name="adj" fmla="val 6977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505cc31ce493b"/>
          <a:srcRect xmlns:a="http://schemas.openxmlformats.org/drawingml/2006/main" l="9333" t="0" r="9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57650" y="1847850"/>
            <a:ext cx="2324100" cy="1905000"/>
          </a:xfrm>
          <a:prstGeom xmlns:a="http://schemas.openxmlformats.org/drawingml/2006/main" prst="roundRect">
            <a:avLst>
              <a:gd name="adj" fmla="val 12000"/>
            </a:avLst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863ab45bc4cee"/>
          <a:srcRect xmlns:a="http://schemas.openxmlformats.org/drawingml/2006/main" l="9333" t="0" r="9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57650" y="3943350"/>
            <a:ext cx="2324100" cy="1905000"/>
          </a:xfrm>
          <a:prstGeom xmlns:a="http://schemas.openxmlformats.org/drawingml/2006/main" prst="roundRect">
            <a:avLst>
              <a:gd name="adj" fmla="val 12000"/>
            </a:avLst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a845bcaf54829"/>
          <a:srcRect xmlns:a="http://schemas.openxmlformats.org/drawingml/2006/main" l="0" t="27616" r="0" b="276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53200" y="1847850"/>
            <a:ext cx="5029200" cy="40005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4A5BA-8404-4488-9D52-FDB697A3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95800"/>
            <a:ext cx="4381500" cy="10477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F172A">
              <a:alpha val="7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168F4B-AD1A-4BBD-8CC5-0FC11CB8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43450"/>
            <a:ext cx="3867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Свет, пространство, архитектура и реальный жизненный сценарий.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C324D-69D0-4E84-A26B-A5163E77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FFFFFF">
                    <a:alpha val="6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FFFFF">
                    <a:alpha val="62000"/>
                  </a:srgbClr>
                </a:solidFill>
                <a:latin typeface="Montserrat"/>
                <a:ea typeface="Montserrat"/>
                <a:cs typeface="Montserrat"/>
              </a:rPr>
              <a:t>SELLYOURBRICK  •  VISUAL BRAND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EF4D6-48F4-46CE-98CB-73A9A278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FFFFFF">
                    <a:alpha val="6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FFFFFF">
                    <a:alpha val="62000"/>
                  </a:srgbClr>
                </a:solidFill>
                <a:latin typeface="Montserrat"/>
                <a:ea typeface="Montserrat"/>
                <a:cs typeface="Montserra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42606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6EE258-F4E8-40C6-94B1-59BE7934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09 / МОБИЛЬНАЯ СИСТЕМА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5E76C3-15DA-4810-9417-426E308D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Разделы узнаются как одна семья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FACB7E-0C48-42CB-A870-A1C78F44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190750" cy="4572000"/>
          </a:xfrm>
          <a:prstGeom xmlns:a="http://schemas.openxmlformats.org/drawingml/2006/main" prst="roundRect">
            <a:avLst>
              <a:gd name="adj" fmla="val 1478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5F02C-1F54-4821-BE11-8478B47E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856" y="1809750"/>
            <a:ext cx="570738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f3953f9e14aae"/>
          <a:srcRect xmlns:a="http://schemas.openxmlformats.org/drawingml/2006/main" l="95" t="0" r="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828800"/>
            <a:ext cx="2038350" cy="4419600"/>
          </a:xfrm>
          <a:prstGeom xmlns:a="http://schemas.openxmlformats.org/drawingml/2006/main" prst="roundRect">
            <a:avLst>
              <a:gd name="adj" fmla="val 1308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6530D-4E29-41B4-AE78-D3C5EF08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8175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АУКЦИОН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7C338-81FF-4869-900F-E5F79513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52600"/>
            <a:ext cx="2190750" cy="4572000"/>
          </a:xfrm>
          <a:prstGeom xmlns:a="http://schemas.openxmlformats.org/drawingml/2006/main" prst="roundRect">
            <a:avLst>
              <a:gd name="adj" fmla="val 1478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9874C-9816-44D2-A3C4-97C78E55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256" y="1809750"/>
            <a:ext cx="570738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32708ceea47a2"/>
          <a:srcRect xmlns:a="http://schemas.openxmlformats.org/drawingml/2006/main" l="95" t="0" r="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00450" y="1828800"/>
            <a:ext cx="2038350" cy="4419600"/>
          </a:xfrm>
          <a:prstGeom xmlns:a="http://schemas.openxmlformats.org/drawingml/2006/main" prst="roundRect">
            <a:avLst>
              <a:gd name="adj" fmla="val 1308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3A89B0-0DEA-4B84-938B-04AA4539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38175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ДОЛИ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30AB5-F8C5-4BAD-81E4-D53D51ED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190750" cy="4572000"/>
          </a:xfrm>
          <a:prstGeom xmlns:a="http://schemas.openxmlformats.org/drawingml/2006/main" prst="roundRect">
            <a:avLst>
              <a:gd name="adj" fmla="val 1478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D8E46-6DF1-4FA3-B017-B36CB3D5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656" y="1809750"/>
            <a:ext cx="570738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7a0789d60f4095"/>
          <a:srcRect xmlns:a="http://schemas.openxmlformats.org/drawingml/2006/main" l="95" t="0" r="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1828800"/>
            <a:ext cx="2038350" cy="4419600"/>
          </a:xfrm>
          <a:prstGeom xmlns:a="http://schemas.openxmlformats.org/drawingml/2006/main" prst="roundRect">
            <a:avLst>
              <a:gd name="adj" fmla="val 13084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CE323-9A90-4BB8-AE6D-BDD6BD0C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38175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ДОЛГИ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B39755-CB41-4219-BC04-76F12719F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52600"/>
            <a:ext cx="2190750" cy="4572000"/>
          </a:xfrm>
          <a:prstGeom xmlns:a="http://schemas.openxmlformats.org/drawingml/2006/main" prst="roundRect">
            <a:avLst>
              <a:gd name="adj" fmla="val 1478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231FFC-1867-4631-82A0-82FE58CC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3056" y="1809750"/>
            <a:ext cx="570738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bcf9b15574765"/>
          <a:srcRect xmlns:a="http://schemas.openxmlformats.org/drawingml/2006/main" l="95" t="0" r="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9250" y="1828800"/>
            <a:ext cx="2038350" cy="4419600"/>
          </a:xfrm>
          <a:prstGeom xmlns:a="http://schemas.openxmlformats.org/drawingml/2006/main" prst="roundRect">
            <a:avLst>
              <a:gd name="adj" fmla="val 13084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830BF-B7D4-4425-8C2B-F2C02638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81750"/>
            <a:ext cx="2038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ТЕСТ-ДРАЙВ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425AD5-3C3C-45E3-BD22-5DE54E62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VISUAL BRAND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10A6CF-E42A-4D61-99E9-D4D60EE0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731819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C8303-AD7B-4ADA-B70E-F95FC0C0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10 / ПРОДУКТОВЫЕ ПОВЕРХНОСТИ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97B5D-24E8-46A9-A900-6F94F107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4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6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Покупка, депозит и объект говорят одним языком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1A522-FF3D-48BA-9602-871CB0DF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33550"/>
            <a:ext cx="2286000" cy="4762500"/>
          </a:xfrm>
          <a:prstGeom xmlns:a="http://schemas.openxmlformats.org/drawingml/2006/main" prst="roundRect">
            <a:avLst>
              <a:gd name="adj" fmla="val 141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90195-7B8C-49B3-98B4-510D8585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8246" y="1790700"/>
            <a:ext cx="597408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b933e2848492e"/>
          <a:srcRect xmlns:a="http://schemas.openxmlformats.org/drawingml/2006/main" l="0" t="78" r="0" b="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0150" y="1809750"/>
            <a:ext cx="2133600" cy="4610100"/>
          </a:xfrm>
          <a:prstGeom xmlns:a="http://schemas.openxmlformats.org/drawingml/2006/main" prst="roundRect">
            <a:avLst>
              <a:gd name="adj" fmla="val 1339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BC987-1F63-4691-9988-68956E63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ПОНРАВИЛОСЬ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A45BA-9CC2-47E3-B631-34B359EB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57450"/>
            <a:ext cx="1123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выбор и сравнение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ACBC2-CF24-414A-B904-10F75214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33550"/>
            <a:ext cx="2286000" cy="4762500"/>
          </a:xfrm>
          <a:prstGeom xmlns:a="http://schemas.openxmlformats.org/drawingml/2006/main" prst="roundRect">
            <a:avLst>
              <a:gd name="adj" fmla="val 141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686F5-DE71-49F4-84F8-DEAB7C63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6796" y="1790700"/>
            <a:ext cx="597408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3b5e605c64e71"/>
          <a:srcRect xmlns:a="http://schemas.openxmlformats.org/drawingml/2006/main" l="0" t="78" r="0" b="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38700" y="1809750"/>
            <a:ext cx="2133600" cy="4610100"/>
          </a:xfrm>
          <a:prstGeom xmlns:a="http://schemas.openxmlformats.org/drawingml/2006/main" prst="roundRect">
            <a:avLst>
              <a:gd name="adj" fmla="val 1339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B59F4-D883-4446-B0A3-10D76456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145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ДЕПОЗИТ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9D65F4-1878-4B9F-95C3-4B033F5D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1123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ясные финансовые действия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B704A4-75A2-4CCF-98BB-DD7C9350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33550"/>
            <a:ext cx="2286000" cy="4762500"/>
          </a:xfrm>
          <a:prstGeom xmlns:a="http://schemas.openxmlformats.org/drawingml/2006/main" prst="roundRect">
            <a:avLst>
              <a:gd name="adj" fmla="val 14167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715A81-7DC7-4B84-A6D8-3F8345A6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346" y="1790700"/>
            <a:ext cx="597408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bc8a9985a43f4"/>
          <a:srcRect xmlns:a="http://schemas.openxmlformats.org/drawingml/2006/main" l="0" t="78" r="0" b="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77250" y="1809750"/>
            <a:ext cx="2133600" cy="4610100"/>
          </a:xfrm>
          <a:prstGeom xmlns:a="http://schemas.openxmlformats.org/drawingml/2006/main" prst="roundRect">
            <a:avLst>
              <a:gd name="adj" fmla="val 1339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18C52D-25EF-4910-9BC4-43B93754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1145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ОБЪЕКТ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7F0D4E-277C-4F64-A5BC-7989838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457450"/>
            <a:ext cx="1123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ставка без потери контекста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423D22-DFD6-4ACE-9A03-14BA1EC4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VISUAL BRAND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97FB0-5177-4FB6-B0F9-F7105E2D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297929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59C9D-45A9-41C2-8559-DE43B148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4ECDD6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4ECDD6"/>
                </a:solidFill>
                <a:latin typeface="Montserrat"/>
                <a:ea typeface="Montserrat"/>
                <a:cs typeface="Montserrat"/>
              </a:rPr>
              <a:t>11 / ПРАВИЛО 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C467B-A039-40B9-B264-9A0FEF60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819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9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 продукт — один характер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EED76-38C3-4E77-9645-3889252B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190750" cy="4572000"/>
          </a:xfrm>
          <a:prstGeom xmlns:a="http://schemas.openxmlformats.org/drawingml/2006/main" prst="roundRect">
            <a:avLst>
              <a:gd name="adj" fmla="val 1478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3E54D2-7970-4F4F-9B13-D270BA02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006" y="1828800"/>
            <a:ext cx="570738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cffb5ba624fa3"/>
          <a:srcRect xmlns:a="http://schemas.openxmlformats.org/drawingml/2006/main" l="95" t="0" r="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1847850"/>
            <a:ext cx="2038350" cy="4419600"/>
          </a:xfrm>
          <a:prstGeom xmlns:a="http://schemas.openxmlformats.org/drawingml/2006/main" prst="roundRect">
            <a:avLst>
              <a:gd name="adj" fmla="val 1308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BA13C-E7AA-4D20-AE25-B78EB363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668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B10DA-7822-469F-913D-646153BB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6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4A108-5812-437C-A1B8-5DA6C201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71650"/>
            <a:ext cx="2190750" cy="4572000"/>
          </a:xfrm>
          <a:prstGeom xmlns:a="http://schemas.openxmlformats.org/drawingml/2006/main" prst="roundRect">
            <a:avLst>
              <a:gd name="adj" fmla="val 1478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CD716-2772-4318-A776-752BCD42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756" y="1828800"/>
            <a:ext cx="570738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185a07bf54f8f"/>
          <a:srcRect xmlns:a="http://schemas.openxmlformats.org/drawingml/2006/main" l="95" t="0" r="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90950" y="1847850"/>
            <a:ext cx="2038350" cy="4419600"/>
          </a:xfrm>
          <a:prstGeom xmlns:a="http://schemas.openxmlformats.org/drawingml/2006/main" prst="roundRect">
            <a:avLst>
              <a:gd name="adj" fmla="val 1308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B62E4-3F49-45BD-95AD-6DC6E43C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57350"/>
            <a:ext cx="13525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6F5D6-A16E-4584-8EFF-5BF32A89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5735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DON'T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44BB5-934B-41F0-83AF-880324E9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4ECDD6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4ECDD6"/>
                </a:solidFill>
                <a:latin typeface="Montserrat"/>
                <a:ea typeface="Montserrat"/>
                <a:cs typeface="Montserrat"/>
              </a:rPr>
              <a:t>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0ABCF8-2676-4F58-9DDE-E97A6A48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42862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Фото-led hero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Tiffany как навигация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Белые поверхности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 понятный CTA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69BF1-0DB6-45A7-BAEC-83212E36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4A3DD6-A436-4E8B-873D-EF84C0E9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958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CA5A5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FCA5A5"/>
                </a:solidFill>
                <a:latin typeface="Montserrat"/>
                <a:ea typeface="Montserrat"/>
                <a:cs typeface="Montserrat"/>
              </a:rPr>
              <a:t>DON'T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52AAD-F51E-405C-8F6A-BBA317E5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57750"/>
            <a:ext cx="4476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800" b="0" i="0">
                <a:solidFill>
                  <a:srgbClr val="FFFFFF">
                    <a:alpha val="76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FFFFFF">
                    <a:alpha val="76000"/>
                  </a:srgbClr>
                </a:solidFill>
                <a:latin typeface="Montserrat"/>
                <a:ea typeface="Montserrat"/>
                <a:cs typeface="Montserrat"/>
              </a:rPr>
              <a:t>Неон + розовый + фиолетовый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00" b="0" i="0">
                <a:solidFill>
                  <a:srgbClr val="FFFFFF">
                    <a:alpha val="76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FFFFFF">
                    <a:alpha val="76000"/>
                  </a:srgbClr>
                </a:solidFill>
                <a:latin typeface="Montserrat"/>
                <a:ea typeface="Montserrat"/>
                <a:cs typeface="Montserrat"/>
              </a:rPr>
              <a:t>Разные 3D-языки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800" b="0" i="0">
                <a:solidFill>
                  <a:srgbClr val="FFFFFF">
                    <a:alpha val="76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FFFFFF">
                    <a:alpha val="76000"/>
                  </a:srgbClr>
                </a:solidFill>
                <a:latin typeface="Montserrat"/>
                <a:ea typeface="Montserrat"/>
                <a:cs typeface="Montserrat"/>
              </a:rPr>
              <a:t>Glow на каждом элементе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14EC48-4A83-4658-B78B-60DA6F10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FFFFFF">
                    <a:alpha val="6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FFFFFF">
                    <a:alpha val="62000"/>
                  </a:srgbClr>
                </a:solidFill>
                <a:latin typeface="Montserrat"/>
                <a:ea typeface="Montserrat"/>
                <a:cs typeface="Montserrat"/>
              </a:rPr>
              <a:t>SELLYOURBRICK  •  VISUAL BRAND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3F9212-4418-453F-833B-4C5F989C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FFFFFF">
                    <a:alpha val="6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FFFFFF">
                    <a:alpha val="62000"/>
                  </a:srgbClr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140008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99A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4886A-A719-490F-BAD9-6EF3C4B0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72668" cy="430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91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691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994BD9-4E25-4C14-B435-AC3E6B54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7309"/>
            <a:ext cx="817245" cy="401193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7B120-3514-45F5-BCEF-2D2D958A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127" y="552450"/>
            <a:ext cx="787527" cy="430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691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691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Your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A5DB85-074B-47B6-9426-4FBCC26D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802" y="552450"/>
            <a:ext cx="950976" cy="4309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691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691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Brick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50FE6-33F4-497B-B607-C5E64BD2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НЕДВИЖИМОСТЬ.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ЯСНЫЕ ЦИФРЫ.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8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 АКЦЕНТ.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5B802-6BA7-4B5D-B681-3BCDF290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FFFFFF">
                    <a:alpha val="8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FFFFFF">
                    <a:alpha val="80000"/>
                  </a:srgbClr>
                </a:solidFill>
                <a:latin typeface="Montserrat"/>
                <a:ea typeface="Montserrat"/>
                <a:cs typeface="Montserrat"/>
              </a:rPr>
              <a:t>Это и есть характер SellYourBrick.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BB024-E7B1-4244-AD27-530A0448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066800"/>
            <a:ext cx="3524250" cy="4724400"/>
          </a:xfrm>
          <a:prstGeom xmlns:a="http://schemas.openxmlformats.org/drawingml/2006/main" prst="roundRect">
            <a:avLst>
              <a:gd name="adj" fmla="val 91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1420E-28E0-46D8-85CE-030C0AF7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66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SYSTEM CARD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DA9407-D468-4C45-B4F9-7C7D0215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81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2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#0099A9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C6857-FA3B-4288-8ADC-94DBA864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Brand Tiffany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212FD1-6C8A-44A7-B522-6940DDA0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765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20074-7656-4B1B-A289-BD5E4DFF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81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MONTSERRAT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1E1E5-02B9-4E65-B080-2FFF9844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43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800 / 700 / 400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8FE5D-BA0B-4208-A30F-5918C5E0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386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8114E-5EBC-45C7-96D1-0F1BA5F5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62450"/>
            <a:ext cx="23812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D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E2E726-9A62-4C7C-B8FD-68547C0A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62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Primary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EB225-893B-434D-92F2-0FAA2972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006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18 px radius  •  44 px touch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A4371-FF30-4522-9695-5A5B8CD9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>
                    <a:alpha val="68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FFFFFF">
                    <a:alpha val="68000"/>
                  </a:srgbClr>
                </a:solidFill>
                <a:latin typeface="Montserrat"/>
                <a:ea typeface="Montserrat"/>
                <a:cs typeface="Montserrat"/>
              </a:rPr>
              <a:t>VISUAL BRAND SYSTEM 1.0</a:t>
            </a:r>
          </a:p>
        </p:txBody>
      </p:sp>
    </p:spTree>
    <p:extLst>
      <p:ext uri="{BB962C8B-B14F-4D97-AF65-F5344CB8AC3E}">
        <p14:creationId xmlns:p14="http://schemas.microsoft.com/office/powerpoint/2010/main" val="1190905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2026-08-23T07:39:02.4220000Z</dcterms:created>
  <dcterms:modified xsi:type="dcterms:W3CDTF">2026-08-23T07:39:02.4220000Z</dcterms:modified>
</coreProperties>
</file>