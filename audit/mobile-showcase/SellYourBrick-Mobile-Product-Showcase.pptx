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c77e81ca46344f9" /><Relationship Type="http://schemas.openxmlformats.org/officeDocument/2006/relationships/extended-properties" Target="/docProps/app.xml" Id="R21599a051d4f4282" /><Relationship Type="http://schemas.openxmlformats.org/officeDocument/2006/relationships/officeDocument" Target="/ppt/presentation.xml" Id="Rc46f439713b845c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1f361fa6bbb478e"/>
  </p:sldMasterIdLst>
  <p:notesMasterIdLst>
    <p:notesMasterId xmlns:r="http://schemas.openxmlformats.org/officeDocument/2006/relationships" r:id="Ra27d9f65de58450e"/>
  </p:notesMasterIdLst>
  <p:sldIdLst>
    <p:sldId xmlns:r="http://schemas.openxmlformats.org/officeDocument/2006/relationships" id="256" r:id="R5cdd7c624ac84086"/>
    <p:sldId xmlns:r="http://schemas.openxmlformats.org/officeDocument/2006/relationships" id="257" r:id="R8d22a0e6b1e44a63"/>
    <p:sldId xmlns:r="http://schemas.openxmlformats.org/officeDocument/2006/relationships" id="258" r:id="Rc4c62ff2a01f4164"/>
    <p:sldId xmlns:r="http://schemas.openxmlformats.org/officeDocument/2006/relationships" id="259" r:id="R19d977caf1984fbc"/>
    <p:sldId xmlns:r="http://schemas.openxmlformats.org/officeDocument/2006/relationships" id="260" r:id="Read3c92ff7934c7c"/>
    <p:sldId xmlns:r="http://schemas.openxmlformats.org/officeDocument/2006/relationships" id="261" r:id="R4e8d387d736541e8"/>
    <p:sldId xmlns:r="http://schemas.openxmlformats.org/officeDocument/2006/relationships" id="262" r:id="R7c171cf8a0b54bdb"/>
    <p:sldId xmlns:r="http://schemas.openxmlformats.org/officeDocument/2006/relationships" id="263" r:id="R2286074e726245ca"/>
    <p:sldId xmlns:r="http://schemas.openxmlformats.org/officeDocument/2006/relationships" id="264" r:id="Rd09dabee378747b8"/>
    <p:sldId xmlns:r="http://schemas.openxmlformats.org/officeDocument/2006/relationships" id="265" r:id="R6fab31d1256c408e"/>
    <p:sldId xmlns:r="http://schemas.openxmlformats.org/officeDocument/2006/relationships" id="266" r:id="Rb8b0a55be5de4621"/>
    <p:sldId xmlns:r="http://schemas.openxmlformats.org/officeDocument/2006/relationships" id="267" r:id="Ra4e098be4dbe4f38"/>
    <p:sldId xmlns:r="http://schemas.openxmlformats.org/officeDocument/2006/relationships" id="268" r:id="R75eda01b37e84188"/>
    <p:sldId xmlns:r="http://schemas.openxmlformats.org/officeDocument/2006/relationships" id="269" r:id="R1f6962b0ee124200"/>
    <p:sldId xmlns:r="http://schemas.openxmlformats.org/officeDocument/2006/relationships" id="270" r:id="Re3f11806f5734be3"/>
    <p:sldId xmlns:r="http://schemas.openxmlformats.org/officeDocument/2006/relationships" id="271" r:id="R5e91e78382924570"/>
    <p:sldId xmlns:r="http://schemas.openxmlformats.org/officeDocument/2006/relationships" id="272" r:id="R531155e4e70841f7"/>
    <p:sldId xmlns:r="http://schemas.openxmlformats.org/officeDocument/2006/relationships" id="273" r:id="R818ac8de2cc74d75"/>
    <p:sldId xmlns:r="http://schemas.openxmlformats.org/officeDocument/2006/relationships" id="274" r:id="R97107386776148b2"/>
    <p:sldId xmlns:r="http://schemas.openxmlformats.org/officeDocument/2006/relationships" id="275" r:id="R3889dcbd52074d5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218945fa25b4e86" /><Relationship Type="http://schemas.openxmlformats.org/officeDocument/2006/relationships/slideMaster" Target="/ppt/slideMasters/slideMaster1.xml" Id="R11f361fa6bbb478e" /><Relationship Type="http://schemas.openxmlformats.org/officeDocument/2006/relationships/notesMaster" Target="/ppt/notesMasters/notesMaster1.xml" Id="Ra27d9f65de58450e" /><Relationship Type="http://schemas.openxmlformats.org/officeDocument/2006/relationships/presProps" Target="/ppt/presProps.xml" Id="R387239f7c8ff457b" /><Relationship Type="http://schemas.openxmlformats.org/officeDocument/2006/relationships/tableStyles" Target="/ppt/tableStyles.xml" Id="R187dfdeac0fb4c09" /><Relationship Type="http://schemas.openxmlformats.org/officeDocument/2006/relationships/slide" Target="/ppt/slides/slide1.xml" Id="R5cdd7c624ac84086" /><Relationship Type="http://schemas.openxmlformats.org/officeDocument/2006/relationships/slide" Target="/ppt/slides/slide2.xml" Id="R8d22a0e6b1e44a63" /><Relationship Type="http://schemas.openxmlformats.org/officeDocument/2006/relationships/slide" Target="/ppt/slides/slide3.xml" Id="Rc4c62ff2a01f4164" /><Relationship Type="http://schemas.openxmlformats.org/officeDocument/2006/relationships/slide" Target="/ppt/slides/slide4.xml" Id="R19d977caf1984fbc" /><Relationship Type="http://schemas.openxmlformats.org/officeDocument/2006/relationships/slide" Target="/ppt/slides/slide5.xml" Id="Read3c92ff7934c7c" /><Relationship Type="http://schemas.openxmlformats.org/officeDocument/2006/relationships/slide" Target="/ppt/slides/slide6.xml" Id="R4e8d387d736541e8" /><Relationship Type="http://schemas.openxmlformats.org/officeDocument/2006/relationships/slide" Target="/ppt/slides/slide7.xml" Id="R7c171cf8a0b54bdb" /><Relationship Type="http://schemas.openxmlformats.org/officeDocument/2006/relationships/slide" Target="/ppt/slides/slide8.xml" Id="R2286074e726245ca" /><Relationship Type="http://schemas.openxmlformats.org/officeDocument/2006/relationships/slide" Target="/ppt/slides/slide9.xml" Id="Rd09dabee378747b8" /><Relationship Type="http://schemas.openxmlformats.org/officeDocument/2006/relationships/slide" Target="/ppt/slides/slide10.xml" Id="R6fab31d1256c408e" /><Relationship Type="http://schemas.openxmlformats.org/officeDocument/2006/relationships/slide" Target="/ppt/slides/slide11.xml" Id="Rb8b0a55be5de4621" /><Relationship Type="http://schemas.openxmlformats.org/officeDocument/2006/relationships/slide" Target="/ppt/slides/slide12.xml" Id="Ra4e098be4dbe4f38" /><Relationship Type="http://schemas.openxmlformats.org/officeDocument/2006/relationships/slide" Target="/ppt/slides/slide13.xml" Id="R75eda01b37e84188" /><Relationship Type="http://schemas.openxmlformats.org/officeDocument/2006/relationships/slide" Target="/ppt/slides/slide14.xml" Id="R1f6962b0ee124200" /><Relationship Type="http://schemas.openxmlformats.org/officeDocument/2006/relationships/slide" Target="/ppt/slides/slide15.xml" Id="Re3f11806f5734be3" /><Relationship Type="http://schemas.openxmlformats.org/officeDocument/2006/relationships/slide" Target="/ppt/slides/slide16.xml" Id="R5e91e78382924570" /><Relationship Type="http://schemas.openxmlformats.org/officeDocument/2006/relationships/slide" Target="/ppt/slides/slide17.xml" Id="R531155e4e70841f7" /><Relationship Type="http://schemas.openxmlformats.org/officeDocument/2006/relationships/slide" Target="/ppt/slides/slide18.xml" Id="R818ac8de2cc74d75" /><Relationship Type="http://schemas.openxmlformats.org/officeDocument/2006/relationships/slide" Target="/ppt/slides/slide19.xml" Id="R97107386776148b2" /><Relationship Type="http://schemas.openxmlformats.org/officeDocument/2006/relationships/slide" Target="/ppt/slides/slide20.xml" Id="R3889dcbd52074d5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5e0d32fa6384d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c28abfb887949dc" /><Relationship Type="http://schemas.openxmlformats.org/officeDocument/2006/relationships/notesMaster" Target="/ppt/notesMasters/notesMaster1.xml" Id="R41874c9db0aa4e4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4fe9e1a68f74008" /><Relationship Type="http://schemas.openxmlformats.org/officeDocument/2006/relationships/notesMaster" Target="/ppt/notesMasters/notesMaster1.xml" Id="R07b78f6d249d4a0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1d056c2b88e4658" /><Relationship Type="http://schemas.openxmlformats.org/officeDocument/2006/relationships/notesMaster" Target="/ppt/notesMasters/notesMaster1.xml" Id="Rd7972d4bae684b3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d10242d398470f" /><Relationship Type="http://schemas.openxmlformats.org/officeDocument/2006/relationships/notesMaster" Target="/ppt/notesMasters/notesMaster1.xml" Id="Rcc8cf853d8104d2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7422104134bd4ac2" /><Relationship Type="http://schemas.openxmlformats.org/officeDocument/2006/relationships/notesMaster" Target="/ppt/notesMasters/notesMaster1.xml" Id="R91c291cc18284a22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56c37a78b834fcc" /><Relationship Type="http://schemas.openxmlformats.org/officeDocument/2006/relationships/notesMaster" Target="/ppt/notesMasters/notesMaster1.xml" Id="R2cc310bde7714433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0c5f661f9eb4659" /><Relationship Type="http://schemas.openxmlformats.org/officeDocument/2006/relationships/notesMaster" Target="/ppt/notesMasters/notesMaster1.xml" Id="Rd5e211d1b6ce478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522262d6e214eab" /><Relationship Type="http://schemas.openxmlformats.org/officeDocument/2006/relationships/notesMaster" Target="/ppt/notesMasters/notesMaster1.xml" Id="Re3f4a661a1ab46e0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19b8f7394c45e6" /><Relationship Type="http://schemas.openxmlformats.org/officeDocument/2006/relationships/notesMaster" Target="/ppt/notesMasters/notesMaster1.xml" Id="R64464b338c1f4fc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dd301d9066e84fc9" /><Relationship Type="http://schemas.openxmlformats.org/officeDocument/2006/relationships/notesMaster" Target="/ppt/notesMasters/notesMaster1.xml" Id="Rc58f51e2a3144964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07ca30b78c744c2" /><Relationship Type="http://schemas.openxmlformats.org/officeDocument/2006/relationships/notesMaster" Target="/ppt/notesMasters/notesMaster1.xml" Id="R36a05ee7d53e47c5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d13ea9dac4049f9" /><Relationship Type="http://schemas.openxmlformats.org/officeDocument/2006/relationships/notesMaster" Target="/ppt/notesMasters/notesMaster1.xml" Id="R6f6a26bf9d094b05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f0acc82c7854929" /><Relationship Type="http://schemas.openxmlformats.org/officeDocument/2006/relationships/notesMaster" Target="/ppt/notesMasters/notesMaster1.xml" Id="Rb5a6a95e93bd4ec1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7807c248c64e4e17" /><Relationship Type="http://schemas.openxmlformats.org/officeDocument/2006/relationships/notesMaster" Target="/ppt/notesMasters/notesMaster1.xml" Id="R6872bc508da340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bbe9f5da3164b1b" /><Relationship Type="http://schemas.openxmlformats.org/officeDocument/2006/relationships/notesMaster" Target="/ppt/notesMasters/notesMaster1.xml" Id="Rb4fabc2c05794c8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b65c89e50aa4df7" /><Relationship Type="http://schemas.openxmlformats.org/officeDocument/2006/relationships/notesMaster" Target="/ppt/notesMasters/notesMaster1.xml" Id="R0c231ca8855c4ab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30b078c43a094f37" /><Relationship Type="http://schemas.openxmlformats.org/officeDocument/2006/relationships/notesMaster" Target="/ppt/notesMasters/notesMaster1.xml" Id="R181b61da52454608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9f0daf6bd04f4974" /><Relationship Type="http://schemas.openxmlformats.org/officeDocument/2006/relationships/notesMaster" Target="/ppt/notesMasters/notesMaster1.xml" Id="Rf43199c23ebb4bee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1323603fe62448ce" /><Relationship Type="http://schemas.openxmlformats.org/officeDocument/2006/relationships/notesMaster" Target="/ppt/notesMasters/notesMaster1.xml" Id="R459778e08753468c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f384542d1d454376" /><Relationship Type="http://schemas.openxmlformats.org/officeDocument/2006/relationships/notesMaster" Target="/ppt/notesMasters/notesMaster1.xml" Id="R5cbf0cd98ac14d2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 — mobile capture</a:t>
            </a:r>
          </a:p>
          <a:p xmlns:a="http://schemas.openxmlformats.org/drawingml/2006/main">
            <a:r>
              <a:t>- audit/mobile-showcase-2026-08-23/screenshots/02-home.png</a:t>
            </a:r>
          </a:p>
          <a:p xmlns:a="http://schemas.openxmlformats.org/drawingml/2006/main">
            <a:r>
              <a:t>- http://localhost:5173/auction — mobile capture</a:t>
            </a:r>
          </a:p>
          <a:p xmlns:a="http://schemas.openxmlformats.org/drawingml/2006/main">
            <a:r>
              <a:t>- audit/mobile-showcase-2026-08-23/screenshots/03-auction.png</a:t>
            </a:r>
          </a:p>
          <a:p xmlns:a="http://schemas.openxmlformats.org/drawingml/2006/main">
            <a:r>
              <a:t>- http://localhost:5173/profile — mobile capture</a:t>
            </a:r>
          </a:p>
          <a:p xmlns:a="http://schemas.openxmlformats.org/drawingml/2006/main">
            <a:r>
              <a:t>- audit/mobile-showcase-2026-08-23/screenshots/01-profile.png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audit/mobile-showcase-2026-08-23/screenshots/03-auction.png</a:t>
            </a:r>
          </a:p>
          <a:p xmlns:a="http://schemas.openxmlformats.org/drawingml/2006/main">
            <a:r>
              <a:t>- audit/mobile-showcase-2026-08-23/screenshots/06-test-drive.png</a:t>
            </a:r>
          </a:p>
          <a:p xmlns:a="http://schemas.openxmlformats.org/drawingml/2006/main">
            <a:r>
              <a:t>- audit/mobile-showcase-2026-08-23/screenshots/01-profile.png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 — captured at 390×844 on 2026-08-23</a:t>
            </a:r>
          </a:p>
          <a:p xmlns:a="http://schemas.openxmlformats.org/drawingml/2006/main">
            <a:r>
              <a:t>- audit/mobile-showcase-2026-08-23/screenshots/02-home.png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http://localhost:5173/auction — captured at 390×844 on 2026-08-23</a:t>
            </a:r>
          </a:p>
          <a:p xmlns:a="http://schemas.openxmlformats.org/drawingml/2006/main">
            <a:r>
              <a:t>- audit/mobile-showcase-2026-08-23/screenshots/03-auction.png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http://localhost:5173/co-investment — captured at 390×844 on 2026-08-23</a:t>
            </a:r>
          </a:p>
          <a:p xmlns:a="http://schemas.openxmlformats.org/drawingml/2006/main">
            <a:r>
              <a:t>- audit/mobile-showcase-2026-08-23/screenshots/04-shares.png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http://localhost:5173/debts — captured at 390×844 on 2026-08-23</a:t>
            </a:r>
          </a:p>
          <a:p xmlns:a="http://schemas.openxmlformats.org/drawingml/2006/main">
            <a:r>
              <a:t>- audit/mobile-showcase-2026-08-23/screenshots/05-debts.png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http://localhost:5173/test-drive — captured at 390×844 on 2026-08-23</a:t>
            </a:r>
          </a:p>
          <a:p xmlns:a="http://schemas.openxmlformats.org/drawingml/2006/main">
            <a:r>
              <a:t>- audit/mobile-showcase-2026-08-23/screenshots/06-test-drive.png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http://localhost:5173/favorites — captured at 390×844 on 2026-08-23</a:t>
            </a:r>
          </a:p>
          <a:p xmlns:a="http://schemas.openxmlformats.org/drawingml/2006/main">
            <a:r>
              <a:t>- audit/mobile-showcase-2026-08-23/screenshots/07-favorites.png</a:t>
            </a:r>
          </a:p>
          <a:p xmlns:a="http://schemas.openxmlformats.org/drawingml/2006/main">
            <a:r>
              <a:t>- http://localhost:5173/compare — captured at 390×844 on 2026-08-23</a:t>
            </a:r>
          </a:p>
          <a:p xmlns:a="http://schemas.openxmlformats.org/drawingml/2006/main">
            <a:r>
              <a:t>- audit/mobile-showcase-2026-08-23/screenshots/08-compare.png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http://localhost:5173/bonuses — captured at 390×844 on 2026-08-23</a:t>
            </a:r>
          </a:p>
          <a:p xmlns:a="http://schemas.openxmlformats.org/drawingml/2006/main">
            <a:r>
              <a:t>- audit/mobile-showcase-2026-08-23/screenshots/09-bonuses.png</a:t>
            </a:r>
          </a:p>
          <a:p xmlns:a="http://schemas.openxmlformats.org/drawingml/2006/main">
            <a:r>
              <a:t>- http://localhost:5173/private-club — captured at 390×844 on 2026-08-23</a:t>
            </a:r>
          </a:p>
          <a:p xmlns:a="http://schemas.openxmlformats.org/drawingml/2006/main">
            <a:r>
              <a:t>- audit/mobile-showcase-2026-08-23/screenshots/11-vip-club.png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http://localhost:5173/about — captured at 390×844 on 2026-08-23</a:t>
            </a:r>
          </a:p>
          <a:p xmlns:a="http://schemas.openxmlformats.org/drawingml/2006/main">
            <a:r>
              <a:t>- audit/mobile-showcase-2026-08-23/screenshots/10-about.png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http://localhost:5173/calculator — captured at 390×844 on 2026-08-23</a:t>
            </a:r>
          </a:p>
          <a:p xmlns:a="http://schemas.openxmlformats.org/drawingml/2006/main">
            <a:r>
              <a:t>- audit/mobile-showcase-2026-08-23/screenshots/12-smart-panel.png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http://localhost:5173/buyer — captured at 390×844 on 2026-08-23</a:t>
            </a:r>
          </a:p>
          <a:p xmlns:a="http://schemas.openxmlformats.org/drawingml/2006/main">
            <a:r>
              <a:t>- audit/mobile-showcase-2026-08-23/screenshots/13-buyer.png</a:t>
            </a:r>
          </a:p>
          <a:p xmlns:a="http://schemas.openxmlformats.org/drawingml/2006/main">
            <a:r>
              <a:t>- http://localhost:5173/seller — captured at 390×844 on 2026-08-23</a:t>
            </a:r>
          </a:p>
          <a:p xmlns:a="http://schemas.openxmlformats.org/drawingml/2006/main">
            <a:r>
              <a:t>- audit/mobile-showcase-2026-08-23/screenshots/14-seller.png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http://localhost:5173/property/villa-preview?buyer_detail_preview=1 — captured at 390×844 on 2026-08-23</a:t>
            </a:r>
          </a:p>
          <a:p xmlns:a="http://schemas.openxmlformats.org/drawingml/2006/main">
            <a:r>
              <a:t>- audit/mobile-showcase-2026-08-23/screenshots/20-property-villa.png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http://localhost:5173/auction — menu open — captured at 390×844 on 2026-08-23</a:t>
            </a:r>
          </a:p>
          <a:p xmlns:a="http://schemas.openxmlformats.org/drawingml/2006/main">
            <a:r>
              <a:t>- audit/mobile-showcase-2026-08-23/screenshots/22-drawer-menu.png</a:t>
            </a:r>
          </a:p>
          <a:p xmlns:a="http://schemas.openxmlformats.org/drawingml/2006/main">
            <a:r>
              <a:t>- http://localhost:5173/auction — search open — captured at 390×844 on 2026-08-23</a:t>
            </a:r>
          </a:p>
          <a:p xmlns:a="http://schemas.openxmlformats.org/drawingml/2006/main">
            <a:r>
              <a:t>- audit/mobile-showcase-2026-08-23/screenshots/23-drawer-search.png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http://localhost:5173/auction — notifications open — captured at 390×844 on 2026-08-23</a:t>
            </a:r>
          </a:p>
          <a:p xmlns:a="http://schemas.openxmlformats.org/drawingml/2006/main">
            <a:r>
              <a:t>- audit/mobile-showcase-2026-08-23/screenshots/21-notifications.png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http://localhost:5173/profile — captured at 390×844 on 2026-08-23</a:t>
            </a:r>
          </a:p>
          <a:p xmlns:a="http://schemas.openxmlformats.org/drawingml/2006/main">
            <a:r>
              <a:t>- audit/mobile-showcase-2026-08-23/screenshots/01-profile.png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http://localhost:5173/profile?data=1</a:t>
            </a:r>
          </a:p>
          <a:p xmlns:a="http://schemas.openxmlformats.org/drawingml/2006/main">
            <a:r>
              <a:t>- audit/mobile-showcase-2026-08-23/screenshots/15-profile-data.png</a:t>
            </a:r>
          </a:p>
          <a:p xmlns:a="http://schemas.openxmlformats.org/drawingml/2006/main">
            <a:r>
              <a:t>- http://localhost:5173/profile?history=1</a:t>
            </a:r>
          </a:p>
          <a:p xmlns:a="http://schemas.openxmlformats.org/drawingml/2006/main">
            <a:r>
              <a:t>- audit/mobile-showcase-2026-08-23/screenshots/16-profile-history.png</a:t>
            </a:r>
          </a:p>
          <a:p xmlns:a="http://schemas.openxmlformats.org/drawingml/2006/main">
            <a:r>
              <a:t>- http://localhost:5173/profile?bookings=1</a:t>
            </a:r>
          </a:p>
          <a:p xmlns:a="http://schemas.openxmlformats.org/drawingml/2006/main">
            <a:r>
              <a:t>- audit/mobile-showcase-2026-08-23/screenshots/17-profile-bookings.png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http://localhost:5173/profile?subscriptions=1 — captured at 390×844 on 2026-08-23</a:t>
            </a:r>
          </a:p>
          <a:p xmlns:a="http://schemas.openxmlformats.org/drawingml/2006/main">
            <a:r>
              <a:t>- audit/mobile-showcase-2026-08-23/screenshots/18-profile-subscriptions.png</a:t>
            </a:r>
          </a:p>
          <a:p xmlns:a="http://schemas.openxmlformats.org/drawingml/2006/main">
            <a:r>
              <a:t>- http://localhost:5173/deposit — captured at 390×844 on 2026-08-23</a:t>
            </a:r>
          </a:p>
          <a:p xmlns:a="http://schemas.openxmlformats.org/drawingml/2006/main">
            <a:r>
              <a:t>- audit/mobile-showcase-2026-08-23/screenshots/24-profile-deposit.png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Visual synthesis based on screenshots 01–24 in the current audit run</a:t>
            </a:r>
          </a:p>
          <a:p xmlns:a="http://schemas.openxmlformats.org/drawingml/2006/main">
            <a:r>
              <a:t>- src/App.jsx</a:t>
            </a:r>
          </a:p>
          <a:p xmlns:a="http://schemas.openxmlformats.org/drawingml/2006/main">
            <a:r>
              <a:t>- src/pages/PropertyDetailPage.jsx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Final synthesis based on current-run screenshots and local product code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4831b8e4e9490a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ec613abf6464e62" /><Relationship Type="http://schemas.openxmlformats.org/officeDocument/2006/relationships/slideLayout" Target="/ppt/slideLayouts/slideLayout1.xml" Id="R9557f8c0cb42485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9557f8c0cb42485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3f116face114bea" /><Relationship Type="http://schemas.openxmlformats.org/officeDocument/2006/relationships/image" Target="/ppt/media/image.jpeg" Id="R8755665fdfc94e8a" /><Relationship Type="http://schemas.openxmlformats.org/officeDocument/2006/relationships/image" Target="/ppt/media/image2.jpeg" Id="Rd9275fbedff04f49" /><Relationship Type="http://schemas.openxmlformats.org/officeDocument/2006/relationships/image" Target="/ppt/media/image3.jpeg" Id="Ra6e2f94d866e4c75" /><Relationship Type="http://schemas.openxmlformats.org/officeDocument/2006/relationships/notesSlide" Target="/ppt/notesSlides/notesSlide1.xml" Id="R7ae2550ac85a4ed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cde596b540c4a03" /><Relationship Type="http://schemas.openxmlformats.org/officeDocument/2006/relationships/image" Target="/ppt/media/image4.jpeg" Id="R423a1b4b428f47d4" /><Relationship Type="http://schemas.openxmlformats.org/officeDocument/2006/relationships/image" Target="/ppt/media/image5.jpeg" Id="Re1c5cbb7dc9a45d0" /><Relationship Type="http://schemas.openxmlformats.org/officeDocument/2006/relationships/image" Target="/ppt/media/image6.jpeg" Id="R471a8989cd6241bf" /><Relationship Type="http://schemas.openxmlformats.org/officeDocument/2006/relationships/notesSlide" Target="/ppt/notesSlides/notesSlide2.xml" Id="R934aa855cc27409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a84a77e86e4d84" /><Relationship Type="http://schemas.openxmlformats.org/officeDocument/2006/relationships/image" Target="/ppt/media/image7.jpeg" Id="R0b97918dea964b84" /><Relationship Type="http://schemas.openxmlformats.org/officeDocument/2006/relationships/notesSlide" Target="/ppt/notesSlides/notesSlide3.xml" Id="Rc0700cf3cda9426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0d277eb2c24caf" /><Relationship Type="http://schemas.openxmlformats.org/officeDocument/2006/relationships/image" Target="/ppt/media/image8.jpeg" Id="Rcf8367d03ece4793" /><Relationship Type="http://schemas.openxmlformats.org/officeDocument/2006/relationships/notesSlide" Target="/ppt/notesSlides/notesSlide4.xml" Id="Rc08a6a871fa140b8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209a56643943e3" /><Relationship Type="http://schemas.openxmlformats.org/officeDocument/2006/relationships/image" Target="/ppt/media/image9.jpeg" Id="R1ef7c74652b54f5d" /><Relationship Type="http://schemas.openxmlformats.org/officeDocument/2006/relationships/notesSlide" Target="/ppt/notesSlides/notesSlide5.xml" Id="Rec401d8a09274db2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8cbc37b92064756" /><Relationship Type="http://schemas.openxmlformats.org/officeDocument/2006/relationships/image" Target="/ppt/media/image10.jpeg" Id="R9f0008ac6c57483f" /><Relationship Type="http://schemas.openxmlformats.org/officeDocument/2006/relationships/notesSlide" Target="/ppt/notesSlides/notesSlide6.xml" Id="R8e5f58166a9e4a1a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8342b9afdb4628" /><Relationship Type="http://schemas.openxmlformats.org/officeDocument/2006/relationships/image" Target="/ppt/media/image11.jpeg" Id="Rbf9a2c485aaa45d1" /><Relationship Type="http://schemas.openxmlformats.org/officeDocument/2006/relationships/notesSlide" Target="/ppt/notesSlides/notesSlide7.xml" Id="R37fe6270850340d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0e6dce45a24a08" /><Relationship Type="http://schemas.openxmlformats.org/officeDocument/2006/relationships/image" Target="/ppt/media/image12.jpeg" Id="R0a157a486fa143b7" /><Relationship Type="http://schemas.openxmlformats.org/officeDocument/2006/relationships/image" Target="/ppt/media/image13.jpeg" Id="R29238b6955e74874" /><Relationship Type="http://schemas.openxmlformats.org/officeDocument/2006/relationships/notesSlide" Target="/ppt/notesSlides/notesSlide8.xml" Id="R118431e6d5754ddd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07e9cc907448ce" /><Relationship Type="http://schemas.openxmlformats.org/officeDocument/2006/relationships/image" Target="/ppt/media/image14.jpeg" Id="Rbdfec4c8d4cc4211" /><Relationship Type="http://schemas.openxmlformats.org/officeDocument/2006/relationships/image" Target="/ppt/media/image15.jpeg" Id="Rf739f69869064765" /><Relationship Type="http://schemas.openxmlformats.org/officeDocument/2006/relationships/notesSlide" Target="/ppt/notesSlides/notesSlide9.xml" Id="R13802004af6b45ee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bbd0bc897e46aa" /><Relationship Type="http://schemas.openxmlformats.org/officeDocument/2006/relationships/image" Target="/ppt/media/image16.jpeg" Id="Rd000ed983bac4c9d" /><Relationship Type="http://schemas.openxmlformats.org/officeDocument/2006/relationships/notesSlide" Target="/ppt/notesSlides/notesSlide10.xml" Id="R9c466f2c26e54a2d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2fa9119345b4598" /><Relationship Type="http://schemas.openxmlformats.org/officeDocument/2006/relationships/image" Target="/ppt/media/image17.jpeg" Id="R8367f2725b7e4760" /><Relationship Type="http://schemas.openxmlformats.org/officeDocument/2006/relationships/notesSlide" Target="/ppt/notesSlides/notesSlide11.xml" Id="R537b8947ae5c4df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cab50ed71d43ee" /><Relationship Type="http://schemas.openxmlformats.org/officeDocument/2006/relationships/image" Target="/ppt/media/image18.jpeg" Id="R3ba4cbb560ba4821" /><Relationship Type="http://schemas.openxmlformats.org/officeDocument/2006/relationships/image" Target="/ppt/media/image19.jpeg" Id="R069bcc2b02d2459c" /><Relationship Type="http://schemas.openxmlformats.org/officeDocument/2006/relationships/notesSlide" Target="/ppt/notesSlides/notesSlide12.xml" Id="R4312fe5238154ead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be99cb8d2514383" /><Relationship Type="http://schemas.openxmlformats.org/officeDocument/2006/relationships/image" Target="/ppt/media/image20.jpeg" Id="Rfca9cf9e7b524b84" /><Relationship Type="http://schemas.openxmlformats.org/officeDocument/2006/relationships/notesSlide" Target="/ppt/notesSlides/notesSlide13.xml" Id="Re06733f13e3b485c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97f3713f794659" /><Relationship Type="http://schemas.openxmlformats.org/officeDocument/2006/relationships/image" Target="/ppt/media/image21.jpeg" Id="R45ec1196725045a2" /><Relationship Type="http://schemas.openxmlformats.org/officeDocument/2006/relationships/image" Target="/ppt/media/image22.jpeg" Id="R6cc086854ab143e4" /><Relationship Type="http://schemas.openxmlformats.org/officeDocument/2006/relationships/notesSlide" Target="/ppt/notesSlides/notesSlide14.xml" Id="Rae4d6d3c034147b5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8e5032b646c42c1" /><Relationship Type="http://schemas.openxmlformats.org/officeDocument/2006/relationships/image" Target="/ppt/media/image23.jpeg" Id="R449265518f1541c8" /><Relationship Type="http://schemas.openxmlformats.org/officeDocument/2006/relationships/notesSlide" Target="/ppt/notesSlides/notesSlide15.xml" Id="Rfa7ae11adf9c44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8e17a7f55840c8" /><Relationship Type="http://schemas.openxmlformats.org/officeDocument/2006/relationships/image" Target="/ppt/media/image24.jpeg" Id="R267c2950b59e4ac8" /><Relationship Type="http://schemas.openxmlformats.org/officeDocument/2006/relationships/notesSlide" Target="/ppt/notesSlides/notesSlide16.xml" Id="R428b1ca796c24d15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e943e61d34a1e" /><Relationship Type="http://schemas.openxmlformats.org/officeDocument/2006/relationships/image" Target="/ppt/media/image25.jpeg" Id="R4b3bc3c04dbb4518" /><Relationship Type="http://schemas.openxmlformats.org/officeDocument/2006/relationships/image" Target="/ppt/media/image26.jpeg" Id="R9babfed27a314c99" /><Relationship Type="http://schemas.openxmlformats.org/officeDocument/2006/relationships/image" Target="/ppt/media/image27.jpeg" Id="R518a4f032305407f" /><Relationship Type="http://schemas.openxmlformats.org/officeDocument/2006/relationships/notesSlide" Target="/ppt/notesSlides/notesSlide17.xml" Id="R7de0f3630d0b437c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2779c44e6834b70" /><Relationship Type="http://schemas.openxmlformats.org/officeDocument/2006/relationships/image" Target="/ppt/media/image28.jpeg" Id="R288b9f17d1324d20" /><Relationship Type="http://schemas.openxmlformats.org/officeDocument/2006/relationships/image" Target="/ppt/media/image29.jpeg" Id="Rfee61f8c78254f26" /><Relationship Type="http://schemas.openxmlformats.org/officeDocument/2006/relationships/notesSlide" Target="/ppt/notesSlides/notesSlide18.xml" Id="Rdd28343ccf944aec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1d520321fc4421f" /><Relationship Type="http://schemas.openxmlformats.org/officeDocument/2006/relationships/notesSlide" Target="/ppt/notesSlides/notesSlide19.xml" Id="Rfdb0b1fd737f4351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e9da6420754cbf" /><Relationship Type="http://schemas.openxmlformats.org/officeDocument/2006/relationships/notesSlide" Target="/ppt/notesSlides/notesSlide20.xml" Id="R9a9538f411554f4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033DB1A-DB42-4DEA-9320-D144C303B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667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ECB35C0-D67E-4EED-82DA-5FBB4020D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4857750"/>
            <a:ext cx="4476750" cy="200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E3277F-952F-4093-B0C9-C85C3754E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614363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73B9E7D-D6C8-4214-A2A1-5E4A3904F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8530" y="530733"/>
            <a:ext cx="688086" cy="327660"/>
          </a:xfrm>
          <a:prstGeom xmlns:a="http://schemas.openxmlformats.org/drawingml/2006/main" prst="roundRect">
            <a:avLst>
              <a:gd name="adj" fmla="val 325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0BB0D2-A9F1-40BA-99A9-3B1F5A7E1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4913" y="514350"/>
            <a:ext cx="671703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8D79BC-C30C-414B-BB84-FF16C9A7E9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17573" y="514350"/>
            <a:ext cx="819150" cy="360426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193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6BFCED-BE5A-4E89-A779-411D9A16FB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371475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6559"/>
          </a:bodyPr>
          <a:lstStyle xmlns:a="http://schemas.openxmlformats.org/drawingml/2006/main"/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МОБИЛЬНЫЙ</a:t>
            </a:r>
          </a:p>
          <a:p xmlns:a="http://schemas.openxmlformats.org/drawingml/2006/main">
            <a:pPr algn="l">
              <a:lnSpc>
                <a:spcPct val="92000"/>
              </a:lnSpc>
              <a:buNone/>
              <a:def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ПРОДУКТ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25E749-55C2-4980-A366-4DB403155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67100"/>
            <a:ext cx="3333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rPr>
              <a:t>Страницы, преимущества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82000"/>
                  </a:srgbClr>
                </a:solidFill>
                <a:latin typeface="Montserrat"/>
                <a:ea typeface="Montserrat"/>
                <a:cs typeface="Montserrat"/>
              </a:rPr>
              <a:t>и единая стилистика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86444C-B392-4765-B070-DC622CF0C6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15050"/>
            <a:ext cx="3333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FFFFFF">
                    <a:alpha val="70000"/>
                  </a:srgbClr>
                </a:solidFill>
                <a:latin typeface="Montserrat"/>
                <a:ea typeface="Montserrat"/>
                <a:cs typeface="Montserrat"/>
              </a:rPr>
              <a:t>SMARTPHONE EDITION  •  2026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0139FD-BE59-4AB9-A594-C681AB95D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62525" y="1057275"/>
            <a:ext cx="2333625" cy="4895850"/>
          </a:xfrm>
          <a:prstGeom xmlns:a="http://schemas.openxmlformats.org/drawingml/2006/main" prst="roundRect">
            <a:avLst>
              <a:gd name="adj" fmla="val 13878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755665fdfc94e8a"/>
          <a:srcRect xmlns:a="http://schemas.openxmlformats.org/drawingml/2006/main" l="9" t="0" r="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29200" y="1123950"/>
            <a:ext cx="2200275" cy="4762500"/>
          </a:xfrm>
          <a:prstGeom xmlns:a="http://schemas.openxmlformats.org/drawingml/2006/main" prst="roundRect">
            <a:avLst>
              <a:gd name="adj" fmla="val 12121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9471E2-541C-459E-AFBB-B3695229C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34525" y="1133475"/>
            <a:ext cx="2257425" cy="4724400"/>
          </a:xfrm>
          <a:prstGeom xmlns:a="http://schemas.openxmlformats.org/drawingml/2006/main" prst="roundRect">
            <a:avLst>
              <a:gd name="adj" fmla="val 14346"/>
            </a:avLst>
          </a:prstGeom>
          <a:solidFill xmlns:a="http://schemas.openxmlformats.org/drawingml/2006/main">
            <a:srgbClr val="0B1220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275fbedff04f49"/>
          <a:srcRect xmlns:a="http://schemas.openxmlformats.org/drawingml/2006/main" l="0" t="62" r="0" b="6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601200" y="1200150"/>
            <a:ext cx="2124075" cy="4591050"/>
          </a:xfrm>
          <a:prstGeom xmlns:a="http://schemas.openxmlformats.org/drawingml/2006/main" prst="roundRect">
            <a:avLst>
              <a:gd name="adj" fmla="val 12556"/>
            </a:avLst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1E964C-F18F-4937-AE3B-053342F5D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96125" y="561975"/>
            <a:ext cx="2667000" cy="5619750"/>
          </a:xfrm>
          <a:prstGeom xmlns:a="http://schemas.openxmlformats.org/drawingml/2006/main" prst="roundRect">
            <a:avLst>
              <a:gd name="adj" fmla="val 1214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6e2f94d866e4c75"/>
          <a:srcRect xmlns:a="http://schemas.openxmlformats.org/drawingml/2006/main" l="30" t="0" r="3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62800" y="628650"/>
            <a:ext cx="2533650" cy="5486400"/>
          </a:xfrm>
          <a:prstGeom xmlns:a="http://schemas.openxmlformats.org/drawingml/2006/main" prst="roundRect">
            <a:avLst>
              <a:gd name="adj" fmla="val 10526"/>
            </a:avLst>
          </a:prstGeom>
        </p:spPr>
      </p:pic>
    </p:spTree>
    <p:extLst>
      <p:ext uri="{BB962C8B-B14F-4D97-AF65-F5344CB8AC3E}">
        <p14:creationId xmlns:p14="http://schemas.microsoft.com/office/powerpoint/2010/main" val="13957578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03667C7-E6E8-4A73-8DCE-EE942F1DD1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01 / МОБИЛЬНЫЙ ЯЗЫК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9A98DF-C5DD-4B78-B934-9B29B01D8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4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Недвижимость ведёт. Интерфейс помогает.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0B641AF-966C-4B4F-916D-9159111A6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1743075"/>
            <a:ext cx="1933575" cy="4038600"/>
          </a:xfrm>
          <a:prstGeom xmlns:a="http://schemas.openxmlformats.org/drawingml/2006/main" prst="roundRect">
            <a:avLst>
              <a:gd name="adj" fmla="val 1674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23a1b4b428f47d4"/>
          <a:srcRect xmlns:a="http://schemas.openxmlformats.org/drawingml/2006/main" l="120" t="0" r="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1809750"/>
            <a:ext cx="1800225" cy="39052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F7C986-F5B5-468F-B9DC-14B66241E2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76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ФОТО-LED HERO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484275-F051-4734-AA23-0D909B6AB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9875" y="1743075"/>
            <a:ext cx="1933575" cy="4038600"/>
          </a:xfrm>
          <a:prstGeom xmlns:a="http://schemas.openxmlformats.org/drawingml/2006/main" prst="roundRect">
            <a:avLst>
              <a:gd name="adj" fmla="val 1674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1c5cbb7dc9a45d0"/>
          <a:srcRect xmlns:a="http://schemas.openxmlformats.org/drawingml/2006/main" l="120" t="0" r="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876550" y="1809750"/>
            <a:ext cx="1800225" cy="39052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AA26321-86AA-4EEE-8FB9-DA8C2F38A4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876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СЦЕНАРИЙ ЖИЗНИ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A70FAE1-BEEB-40FE-90A0-0CBFF20B2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00625" y="1743075"/>
            <a:ext cx="1933575" cy="4038600"/>
          </a:xfrm>
          <a:prstGeom xmlns:a="http://schemas.openxmlformats.org/drawingml/2006/main" prst="roundRect">
            <a:avLst>
              <a:gd name="adj" fmla="val 16749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71a8989cd6241bf"/>
          <a:srcRect xmlns:a="http://schemas.openxmlformats.org/drawingml/2006/main" l="120" t="0" r="12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67300" y="1809750"/>
            <a:ext cx="1800225" cy="3905250"/>
          </a:xfrm>
          <a:prstGeom xmlns:a="http://schemas.openxmlformats.org/drawingml/2006/main" prst="roundRect">
            <a:avLst>
              <a:gd name="adj" fmla="val 14815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6AD5A5-483A-4D6A-BF95-835AA238B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5876925"/>
            <a:ext cx="19526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БЕЛЫЕ SURFACES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29A69E-01B3-497B-AD1F-C1CC9FC44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18478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rPr>
              <a:t>01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20E71F7-4353-4830-ABF4-77EAD9D6D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8478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ФОТОГРАФИЯ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C73571F-9C66-4ACB-811C-03F1277AD5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1717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Дом, вилла или человек создают первый эмоциональный контакт.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DEAD823-C27D-4A3F-8050-41EAA72FE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9051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D46637B-8F93-4714-B346-957F57E4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1051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671045-9AEE-4696-83E0-4657A88E0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051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ЯСНАЯ ИЕРАРХИЯ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B1A3661-7F93-4F36-A3AA-52C63BBB89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4290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Крупный заголовок, короткое объяснение, одно действие.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A518756-4835-4B7A-AC7C-BF05BF298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162425"/>
            <a:ext cx="3429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0796C27-AE80-47AB-B550-575E62D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4362450"/>
            <a:ext cx="4572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099A9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F3A33-8BCE-447D-9905-CD704B4324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6245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TIFFANY-НАВИГАЦИЯ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AEE357F-9A83-4AB3-8CD1-497515835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686300"/>
            <a:ext cx="31432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Бирюзовый ведёт пользователя, но не забирает весь экран.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7D11936-6E3B-4BBC-BED2-01989EB6A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134CC4C-1BF2-4979-89C2-8C3D65FF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464703443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A717F2E-36FC-4CAB-874E-F3087CC948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02 / ГЛАВНАЯ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C3798B-E254-4C15-888E-B678E61F5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b97918dea964b84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B6C5EE-53E2-41E3-9B5D-110DFE3D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ГЛАВНАЯ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4785468-4DE2-4314-9263-B4B73F3E5F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Главная делает первый контакт эмоциональным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D7BCB7-B0E0-4E1C-B18A-931FEB67B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32AD20-3B3E-4C85-8FE8-1183BA194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экран сразу обещает лёгкий путь к дому мечты.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665981F-C9C5-4DE4-9033-7A25D1187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96C6BFB-AA69-4AB1-9AA7-2ABF61F37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CE50EAD-ECD3-4AA3-A186-D43CBFAA2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B899B0-DF12-4626-BB12-3A3AF2713C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Вилла занимает весь экран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226E6C8-7961-49ED-9757-0F522F30A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9B8A765-08CF-4E45-8CD3-D8E4D2F60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Tiffany-overlay связывает фото с брендом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E879739-B7F6-4162-89F8-F49A22E91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0223CBE-968F-4625-AB73-863E7D8BC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Минимум текста и один scroll-cue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6014DC2-4388-46D8-9FF1-C83AE1307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AE057B-1467-4B7C-AED5-93B9CB704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81A25C1-1EF6-495D-9182-3C5E9EE6F7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Узнаваемый цвет, но нет общего header-паттерна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B1FF55C-0794-4167-8BD6-6BA7B0D59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1A9CE1A-E435-47D3-981B-89D96F743F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90323786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29596C6-6838-44C2-A711-7237D8872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03 / АУКЦИОН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CAAF2F1-3AA1-4113-9350-CE0ECEF35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8367d03ece4793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F477F21-9E57-4D3B-94A3-B576068AF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АУКЦИОН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1CA680-6A92-4286-AE90-CF5B723B8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Аукцион соединяет историю и действие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4B4314-950F-458C-A167-E20D78013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998CD6-33AB-413C-AE44-B38BBD530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Пользователь видит смысл формата до первой карточки.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B92DFE-FCAB-4DA6-B2FE-32F4FD4B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DCA38F-6EC0-4471-A6F0-F1FE9ECE0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13B8638-848A-4286-BDA4-6ABA43623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16F10-3486-45AD-800E-4DFD1FEAC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Photo-led hero с затемнением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C0B0AA-8A9C-4DB5-81B6-B443BA62C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9A5C47-03D2-43BA-A4F1-BAF758605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Плавающий белый header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CC38636-98AC-46BF-AD61-D68EF9F0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DDB229C-5128-4A51-B3DE-675D4AE819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Белый CTA с Tiffany-action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ABA3D8F-6574-45DD-B21C-4A67AB6F8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BF1AA6-15DD-4D00-BCCA-9CCF4F3FCA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Карточки продолжают тот же ритм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52401AA-B84A-419C-B9AA-E9530F1562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456A720-1280-4436-BA9C-4A2B9389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D8D8B3-FF06-47D3-86C8-B8FBB9327E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Эталонный шаблон для продуктовых разделов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197CA8D-4999-400A-9EE3-0E462250BB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2756AD-C44D-4CD6-A2A0-B27B41332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781315479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59C545-6366-482D-9A45-5734C1EB4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04 / ДОЛИ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133DDC-822F-4491-9130-72A585C79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7c74652b54f5d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3B1BCF-FBD0-41BC-9A90-6B85634CE6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ДОЛИ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68D63C4-A134-4210-B37D-59DA92A14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Доли наследуют общий продуктовый каркас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BFCF1-11A5-40DF-8D90-69C7BA0FF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5761403-69FB-4813-82B5-1AC5CBC16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Новый инвестиционный формат ощущается частью того же продукта.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2AEF44E-73B5-430D-B981-048601106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96136F7-D999-4589-AD60-50500A6649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A43A6E6-E597-477D-942E-B7EE41D105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83C3FA-E960-4724-81B6-A016065C7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Тот же header и hero-геометрия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1EFB13-FAA9-4DC3-ABED-2436B2C8E4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430823-3C65-4047-82AE-365CFBD28A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label объясняет контекст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463F11-1CC7-4A8C-9F80-41DF89B952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A35D68A-6E17-4896-AF30-D2B5E36E2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Поиск и фильтр стоят на знакомом месте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3BD70DE-4F51-4581-BEB8-C7F1DBE2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73881D-136B-4526-9E9A-EC14318D0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Карточки начинаются сразу после hero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FCE742A-9811-4B2B-BF99-34F01BC86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A5CDB68-0AEF-4AA9-A1DB-9E4A63BA60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DC1E18C-373D-468E-BD2C-D47D30B07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меняются смысл и фото, не язык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2D4367E-FD0A-476D-B64B-19054E2EA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1ED19C-3623-431B-BD94-E25C6C34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8476454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C873261-D432-46AE-8A3A-F3986D0AB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05 / ДОЛГИ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79A24C-8B90-4BE6-A76D-1203C1A13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f0008ac6c57483f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B77FA7-CBD0-489E-935A-4623776AC2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ДОЛГИ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DBBEED-18C5-4A59-8C20-D8A70ED8C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Долги меняют смысл, сохраняя каркас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476AD29-75FA-4D0F-9EB8-7D85FF7B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DE830E-B267-405B-A06D-6456131D5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Риск становится понятным ещё до просмотра объектов.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30A01DC-DEE1-4753-A225-072FF0D8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C890D21-AD9E-4AB8-AE0B-4458085E5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4A72542-359C-44D8-959B-91CD468922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4614B7A-8C9D-4D1E-BBB8-61A37C9A93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Тёмный фотофон для серьёзного контекста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221493-CAF2-4D20-B77A-94FF9F26B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1252B2-BBDD-438A-B5FB-341D81C26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Три белые risk-карточки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161BD92-D1DD-493B-AF64-2A7D5F840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A023AD8-0CFC-4566-AF8E-7489410C9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Семантические красный, жёлтый, зелёный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663E295-8619-4F21-954B-0D7C9EF99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D5BA711-5699-4400-8846-73D52B2C84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Общий поиск и floating actions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AD77D6-5228-41A4-B59D-54C6737318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0311F98-C4A8-46E5-9B7F-3FF425477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6922F0-7EF2-4A5F-841B-D190995AB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отдельная семантика встроена аккуратно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722686F-E35F-4EAF-9B8C-26CF422FB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C589C4F-E93B-417B-BD37-667369C3B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93409078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F633BC8-1103-4FEE-875A-29589EA4D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06 / ТЕСТ-ДРАЙВ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DF4D73-9FB8-42D3-B496-50CBA7491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9a2c485aaa45d1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EBCC5FA-4249-4417-98B6-23BA557C8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ТЕСТ-ДРАЙВ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D2A51B7-2C13-498B-AEA7-75F2341D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Тест-драйв превращает услугу в сценарий жизни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3D9A511-461A-478C-8B1D-D36A7A74B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24C6D78-A0D2-46DC-BEA9-08F8FFA34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Вместо описания функции пользователь сразу видит будущий опыт.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46C125-A5D8-478F-980E-70F31FB34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46A57CA-ADD7-4D85-9072-54470B260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F110AC-E3F9-48BC-8E0C-0E572A8B4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97854FF-D029-4C43-8189-222751A3D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Lifestyle-фото виллы и бассейна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BEAD387-FB2B-44A3-88D2-554EEF037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56544B-60C1-4877-977D-35A6048D92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Белая карточка поверх hero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C02C356-A39C-48B6-9C5F-1008BEDD6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B020B0-4B84-41AD-A0AB-71F30B082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Три шага в спокойных pills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12E4452-D239-4368-8667-682BAB4EA7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9A6B69-2B83-4564-B2AA-67415EA72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Tiffany CTA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D514F61-991D-4040-96CD-A5A2F80529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DF53167-78F5-42C7-A769-E747D3A86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E3ED65-3357-4EB4-B3D7-ADDE6E8596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Очень высокая — лучший баланс эмоции и действия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F3E6DA-4035-4143-9AE3-D1904A5F07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9DEBC24-9AF2-46FE-880E-57F39AA76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114048216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E79EFF-7295-4BB5-90C3-90D6CA7DE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07 / ВЫБОР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F6510B4-37DB-48E3-A932-7EE110165E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a157a486fa143b7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19A9850-48BB-4C7B-B5B1-4C54F4D81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ПОНРАВИЛОСЬ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C7D0C4-11C2-40C7-98B0-00DF8094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9238b6955e74874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3449E9-3BA4-4715-92CB-1B48631B64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СРАВНЕНИЕ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E38065-2700-4303-8FA1-5FBF3EB0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10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Понравилось и сравнение продолжают путь выбора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B07C0E3-11C1-4F41-861C-BF0A94C48F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ОБЩЕЕ ПРЕИМУЩЕСТВО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2952B43-3095-49F6-8239-D70747FB7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Сохранение и сопоставление превращены в понятный следующий шаг.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1B18407-C9B8-4749-B442-EB25D7A1D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69503E8-2221-478A-B052-1FF8332C9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ЧТО ОБЪЕДИНЯЕТ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A0DF2D3-1FEB-4FAE-A6F4-FB7B638404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C1328A-64A3-46F9-AC8F-366D0A1BA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528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Объекты сохраняют карточную модель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54D28C0-0042-4671-B895-E2E3C79F2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35B511B-4C58-426A-BF6C-1E128789A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Sticky CTA удерживает действие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455E896-DEAE-4AEF-B242-7E7B11FEA4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DDC0AEC-394D-4634-8152-C4B82089E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529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Крупные заголовки без лишней навигации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E0D7B93-421C-4C9E-AAD6-46E8BAFC5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48300"/>
            <a:ext cx="57150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FE478E-0D8C-4176-B891-74A1B83E7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ЗОНА ВЫРАВНИВАНИЯ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C4CACD-9584-40B3-BC38-611908396E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02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Сравнение слишком долго остаётся полностью Tiffany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7035705-4BC4-4C3A-A2C9-538785703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4C2D97D-561A-4F28-8F7B-D4DBE3946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728468023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5537294-CE8B-4044-A24E-A9EE29EDC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08 / ВОВЛЕЧЕНИЕ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BAEB30C-43CA-4C85-9901-D4FF56C342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fec4c8d4cc4211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CB3E5AE-DB07-4D78-8925-DFB020003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БОНУСЫ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A7D39C-5643-44AC-9EFA-A3CAD425D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739f69869064765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4000449-7314-4B66-9B41-4FBF32428C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VIP-КЛУБ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261CE6E-0008-4EC5-8E15-BD68A9496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10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Бонусы и VIP-клуб добавляют мотивацию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1F21F-4EA3-48F6-9D32-CEC4ECFFA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ОБЩЕЕ ПРЕИМУЩЕСТВО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0286701-32C7-434A-9C10-55BD0FD583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Две разные механики усиливают повторные действия и доверие.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F633EEF-BF20-41BC-881B-4657FD1C9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BF6BA3-2C90-4D00-9124-DC07EA4D5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ЧТО ОБЪЕДИНЯЕТ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AD4726-84C9-41EA-ACCF-2EDA8DB9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AD5F23-702B-45FD-861B-F5E76DE1D2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528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Бонусы — фирменный Tiffany и line-art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72F2EAD-6453-46E2-9AAD-3B7DF6925A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AECD1B-EA78-40BC-A8DD-9040B989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VIP — белый premium-canvas и чёрный 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4BC31E-22A3-490A-B1A2-D2FBC41777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3F8F61B-474B-4B17-BD2B-F355DA8EC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529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Оба экрана используют крупную вертикальную историю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CA2DAE2-9696-42CE-BE87-FAE783A1DB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48300"/>
            <a:ext cx="57150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48FC6C1-44E4-4C2C-A42D-0BAF8BAE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BD7FB6-F406-4867-9744-8677BC4551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02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Средняя — VIP стоит вернуть один Tiffany-акцент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D3FE264-0134-45A4-88C0-934D5B9E9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4E5BCD5C-FDE8-4580-B077-923C870A35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63339407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179BD33-B1FF-4C8A-A539-60525AABD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09 / О НАС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7B8992B-1D09-4359-88BC-A487405B4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000ed983bac4c9d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035E5C-A06E-4356-9487-4B1E0444D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О ПЛАТФОРМЕ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18961C-8AB5-472A-9045-31C5EF788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«О нас» строит доверие через реальные цифры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C072B7E-26C1-4B13-9C98-CD535AD7A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407728-0ED6-4937-8C63-89FE4F1F8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Имидж быстро переходит в доказательства и факты.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208548A-DE05-4380-BB66-4EB31E259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6698A6E-2D53-45F0-AE9F-396EF8BC7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A73C390-C29B-43E4-B58D-5A5720DFF8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94B851-BBA2-4E5A-9940-1A539741A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 здания с мягким overlay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A6C9BC2-1B33-46F6-BA1E-FD4B7B9CB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FDB4F2D-3B4B-4823-8C76-ED8779445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Короткий манифест без перегруза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7115A14-0E16-42DE-803A-208BF7D59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B48A8FF-702A-43B6-88C4-8B624DE6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Tiffany-плашки для ключевых метрик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5E4E3D-BBF0-48AD-8E1E-7B0AE98B4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270CD54-9A1C-4AB8-B201-4AF66A985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Та же curved hero-геометрия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8F60291-2ED2-4DF4-8423-013496323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BE6AB6-AA4E-40B0-857B-86169B07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95EA5E7-123C-4069-8866-AE209AED0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брендовый storytelling без смены языка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E0C9970-040F-4695-A340-C31C0C463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D109028-D9DC-4CE3-9A7A-B700097897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791143746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53586BA-5A59-43F6-BC1A-630C4C9146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10 / УМНАЯ ПАНЕЛЬ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4B3B7D-A261-4F03-95CD-8D32A89EC7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67f2725b7e4760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078D98-CA99-4BD4-90F7-D1676993C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УМНЫЙ ИНВЕСТОР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F651C1A-5119-40C6-9134-4469C52AB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Умная панель — сильный образ, но другой бренд-язык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4839F8D-9C01-4591-8FAE-D416FE1D1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A9E7FA-7C34-4ADB-AB11-EFC7079CBA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Экран обещает энергию, технологичность и персональный расчёт.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A34B4E9-54D2-4B6C-85E2-32C8478FB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647212-9E0A-4EA5-870E-4F1D4353A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9815BBB-7D9D-4D32-AAE0-E99EDD4C7D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B217D66-C259-4CB1-922E-91E054415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Чёрная grid-сцена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65B5A12-EBC8-42DF-9399-14E8EEF72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3DF893E-B5ED-417C-B48B-FC670405C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Неоновые розовый, оранжевый и синий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DC030B-0404-41DF-9E3A-71103C9E2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577E627-14F6-479D-A340-CE69A8A4FB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Наклонённые glow-карточки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9D848-D2B5-4819-8616-C2EE9D05C3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30A88B3-6849-49AF-ACC2-CF0414F5A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Белый CTA без Tiffany-роли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B65E4CD-3E2E-4575-A828-AF865D6C9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84AF294-57D7-4C4B-8D28-426905F3F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DC2626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DC2626"/>
                </a:solidFill>
                <a:latin typeface="Montserrat"/>
                <a:ea typeface="Montserrat"/>
                <a:cs typeface="Montserrat"/>
              </a:rPr>
              <a:t>ГЛАВНЫЙ РАЗРЫВ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B58695-2A1E-4111-BED4-331FCA12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Сохранить драму, но вернуть палитру и форму системы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C741D4A-790B-4C7E-AB69-104F686EB0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BB6D10-20C2-42A0-B32C-51405F7F0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11</a:t>
            </a:r>
          </a:p>
        </p:txBody>
      </p:sp>
    </p:spTree>
    <p:extLst>
      <p:ext uri="{BB962C8B-B14F-4D97-AF65-F5344CB8AC3E}">
        <p14:creationId xmlns:p14="http://schemas.microsoft.com/office/powerpoint/2010/main" val="634810718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F63E2EA-9F2E-4475-A7E8-544D915638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11 / РОЛИ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75F985D-7EEB-4183-820C-DE1175380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ba4cbb560ba4821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4560098-22D2-41D7-851C-6257E9A69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ДЛЯ ПОКУПАТЕЛЯ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43AE7C-DEF7-4C07-9D75-A134D75BA1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69bcc2b02d2459c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4C0B2BE-4590-43FF-9F4C-D24461AA4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ДЛЯ ПРОДАВЦА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C1EF30-50BB-4212-8BC4-043AD426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10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Покупатель и продавец видят одну платформу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EB120EF-8D3A-46AF-9CB1-470AFF7B6D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ОБЩЕЕ ПРЕИМУЩЕСТВО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2B1CC5-98DA-44DB-8354-B0666D6BF8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Разные задачи получают разные истории, не разрушая общую систему.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F904965-B873-4477-80E5-5F0D0BE543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FFEF41D-3310-4AC8-BE86-6478AAFB4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ЧТО ОБЪЕДИНЯЕТ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C121DC-D1A0-4174-9DD1-8BF43B5F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0E124A-C695-4553-8ECF-F3FE7B1A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528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Единый плавающий header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1D7966-C258-4762-9929-70C96FEAE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C4F252-F195-4015-9BA2-630D31AF1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Крупный Montserrat-заголовок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06ED89C-D8E1-45A5-95F6-5C731FEC8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47CC5AB-B684-4A65-AB11-41E47E37C3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529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 недвижимости и понятная выгода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376B2A-FB38-4EF4-9DFA-C056F22BF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19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11DB222-12DB-45C4-A99C-C1A1ED4D7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530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Чёрный CTA как сильное действие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E1B5B85-1459-4506-88A9-6ABC1EECA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48300"/>
            <a:ext cx="57150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EF634E8-8CF6-4239-A265-7E467E02F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45F0091-50E0-4D09-A289-38BA7E2F3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02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разные кампании, единая продуктовая рамка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4A5593F-FCBC-492A-91BC-EAB908D3EE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1D0134A-0456-4679-9340-801F19E613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386874683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BE911A-E1A0-4798-93F2-433E227A2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12 / ОБЪЕКТ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E0D0E06-20C8-4507-8DAC-E06DE53710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ca9cf9e7b524b84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D3F52EE-514B-4D0D-B67E-36FCFA118E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ВИЛЛА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E66DCE1-7346-4ECC-B89D-9AF09397D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Карточка виллы говорит языком сделки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98B7939-0EA5-4B1F-9864-027D6F859F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0E96E41-2EC3-4959-8797-EE3BC1E15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Фотография, цена и действие считываются в правильном порядке.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4B8CFD-3B3D-4B0B-9ADC-B476B4A664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A483AF-89EE-458E-B0B7-5E4DE44D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CFDA68D-58A2-4EF9-9413-C4DE20BDA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024113-377C-4211-B30F-50E5B8E3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Крупная фотография реальной недвижимости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7F8F91-0731-4C37-A752-CA8EE74AE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56A272-6135-4239-8AA1-1CF7D8C0CF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Контекстная навигация вместо общего header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700AE51-B507-4776-891F-26944E482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4C295E-7532-4134-9DE1-FBA057FE48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Белые карточки и мягкая тень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66F503F-8C4C-43C7-8D35-74421E62DD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FC3FC4B-95F5-40F4-9A4F-E0FEB6B9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показывает выбор валюты и CTA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822EB21-5FF5-4A7C-B29C-15C957626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C6E86FC-F904-4BD9-BD62-14F569F2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539544-36D9-4A4A-BAEE-3D5EF518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спокойная продуктовая поверхность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3918FA-654A-41CD-9E8C-615727194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0A6F3E-F307-4C3C-AC73-2A3E369BE8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13</a:t>
            </a:r>
          </a:p>
        </p:txBody>
      </p:sp>
    </p:spTree>
    <p:extLst>
      <p:ext uri="{BB962C8B-B14F-4D97-AF65-F5344CB8AC3E}">
        <p14:creationId xmlns:p14="http://schemas.microsoft.com/office/powerpoint/2010/main" val="76483769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385F3B3-F55F-423D-94D8-3F9E55CA8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13 / DRAWERS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47A9CD-BC43-4464-990C-7B50F93D0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ec1196725045a2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3FCF1F5-A096-424D-B972-73A465EB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МЕНЮ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A88415-3445-4F64-ADD5-D749561C9E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cc086854ab143e4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618DB05-2A18-4C9A-AE1B-4C69B2BC5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ПОИСК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82CEE0-635B-4EFF-8DCB-514AA81D6A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10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Навигация раскрывается слоями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B3748C6-621A-474B-981F-A6683BBF3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ОБЩЕЕ ПРЕИМУЩЕСТВО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D51B28E-5471-45AD-BCE8-7CBEF0C12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Дополнительные действия появляются поверх контекста, не уводя со страницы.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5F04DB-6BA6-4B60-A1F8-D54CA693F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04677-F055-47CD-A7C3-E68D68D74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ЧТО ОБЪЕДИНЯЕТ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AE3D0E-F4AF-4F0A-9A1A-05C6841801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7B47BC-BB07-467F-BA15-8E0E21F19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528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Белые surfaces поверх размытого фона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C3A8870-0F4F-4A23-8262-999062F784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A338B3-3F13-4C6C-86AD-C21892191C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Крупные touch-targets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28BFC36-DE4C-4C41-8A06-D507A01CC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1CCC1A7-6087-4D5C-AE3E-C43AD852E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529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Аккордеоны в меню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86AF496-110D-4381-AD93-4896E4178D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19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F6AB3EC-66E7-445E-9D78-A8CB85B645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530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Поиск занимает только нужную высоту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2B3566B-8F50-4452-83E5-76A46D271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48300"/>
            <a:ext cx="57150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C55A3B-3148-493D-91C5-B984D9888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787E172-48E4-45DA-983D-89CD3F596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02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единый слой, радиусы и поведение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55584D-EBCA-43F0-89FF-6DE529A65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A1C45F8-28A8-4E3B-B3F7-1FB64CA28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14</a:t>
            </a:r>
          </a:p>
        </p:txBody>
      </p:sp>
    </p:spTree>
    <p:extLst>
      <p:ext uri="{BB962C8B-B14F-4D97-AF65-F5344CB8AC3E}">
        <p14:creationId xmlns:p14="http://schemas.microsoft.com/office/powerpoint/2010/main" val="262915690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194CEF-13D1-4BEC-9F01-B97EB3F53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14 / УВЕДОМЛЕНИЯ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ABA755D-8D50-4FF7-962E-2F9E53D0A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49265518f1541c8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63A42F6-DD75-42B7-8584-575C06944A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BOTTOM SHEET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C2020E-6938-4238-B664-37908B119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Уведомления сохраняют спокойный тон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1E5AF9E-6600-4E95-8414-F9118763A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748904C-E238-4837-A4E1-D8F980ADD0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Даже пустое состояние объясняет, что появится здесь дальше.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558D678-E2DD-4C4E-AFC5-54B52AF06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E2C48F-7A05-499D-8E25-59401C8279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18CB771-4DC8-4CA1-A64C-046F55F939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8DC685-5C24-41D1-804B-2E117BFDA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Bottom sheet с blur-контекстом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7915F77-E913-474D-A733-BEAD4537A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E2628A9-46D8-45AA-A77D-057E89E17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Три временные вкладки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8234BC3-5CD6-4521-9B80-093FCB9322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1589A32-0DAC-482F-97A1-00D2980D0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Нейтральная иллюстрация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23B9071-7DF8-4F6C-9F85-DE29303A2B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149D09-3B6A-4CC7-9982-8BE673B18E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Короткая человеческая формулировка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DDD94C-BC2E-4917-8A7D-939AF9E6C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E9E4888-B04B-46F6-B01F-F3BB4B493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79248F3-E0A6-4734-861B-EE6A39A1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Очень высокая — чистый системный компонент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30B18D5-4890-44F3-9546-6859D0AE6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4C85AAE-BA86-4CBA-BDE1-82F56DC10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1436365294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3885E1D-DCBC-449A-9CCF-93598CB1A7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15 / ПРОФИЛЬ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DCBC95B-FF65-464F-9EC3-3581517B8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1525" y="657225"/>
            <a:ext cx="2638425" cy="5562600"/>
          </a:xfrm>
          <a:prstGeom xmlns:a="http://schemas.openxmlformats.org/drawingml/2006/main" prst="roundRect">
            <a:avLst>
              <a:gd name="adj" fmla="val 12274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67c2950b59e4ac8"/>
          <a:srcRect xmlns:a="http://schemas.openxmlformats.org/drawingml/2006/main" l="74" t="0" r="7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38200" y="723900"/>
            <a:ext cx="2505075" cy="5429250"/>
          </a:xfrm>
          <a:prstGeom xmlns:a="http://schemas.openxmlformats.org/drawingml/2006/main" prst="roundRect">
            <a:avLst>
              <a:gd name="adj" fmla="val 10646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1EB03D5-B784-4C77-9DD4-B5F39DB7A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315075"/>
            <a:ext cx="26574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ОБЗОР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A71DA1-99C9-4841-86C8-F7CB0C0057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742950"/>
            <a:ext cx="72390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1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Профиль собирает путь пользователя в одном месте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56A9052-CDF0-46AC-99E8-D152D4A61F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076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ПРЕИМУЩЕСТВО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8107C66-E20C-43C9-8739-EFD5EA24E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2305050"/>
            <a:ext cx="6667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Статус, разделы и ключевые направления доступны с одного экрана.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D71513-835C-4A85-BDDC-9F03ADA52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200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4B9758F-5824-4A5A-983D-11CB47A32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476625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СТИЛИСТИЧЕСКИЕ ПРИЁМЫ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4B126E7-47F4-437F-AD9F-8227BC2F88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3800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A0E6B7C-ACDA-4715-A2BF-FC6B1A66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37338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Tiffany-gradient задаёт персональный контекст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970A54E-185D-4C40-AFED-2CCA02775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696D55C-E010-48E2-82D7-C7AB7BA88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1529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Горизонтальная карусель разделов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775088C-696F-4248-8C03-5B68C0F100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4638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822AEE-15EF-4C40-82FC-1D6E26777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5720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Белые action-строки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1546B57-A0B4-40F7-85C5-7C42BFE49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577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9D522CA-A032-492E-8C5B-BFCE4CF1E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4991100"/>
            <a:ext cx="64579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Контент продолжает общие направления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E9133F8-CBD2-4734-80AC-D40D98CD7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429250"/>
            <a:ext cx="66675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BBFEF74-351F-42BD-A40A-4F704CCB9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56260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C024805-E357-426E-9D24-868DD431E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62450" y="5791200"/>
            <a:ext cx="63246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профиль ощущается частью продукта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8C0CA20-769A-446C-BD2C-61116E1D0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2EEC95D-A0F0-4068-99A3-DCBA66919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16</a:t>
            </a:r>
          </a:p>
        </p:txBody>
      </p:sp>
    </p:spTree>
    <p:extLst>
      <p:ext uri="{BB962C8B-B14F-4D97-AF65-F5344CB8AC3E}">
        <p14:creationId xmlns:p14="http://schemas.microsoft.com/office/powerpoint/2010/main" val="1418954242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D60BE155-02FE-4B0D-A5F4-3F7A31554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16 / ПРОФИЛЬНЫЕ РАЗДЕЛЫ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283649-79E9-4E4F-AAFD-A0AE61749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14375"/>
            <a:ext cx="10001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22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22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sheet-шаблон удерживает разные задачи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BB6AFD-6B23-403E-AE6D-239CCD173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" y="1533525"/>
            <a:ext cx="2028825" cy="4229100"/>
          </a:xfrm>
          <a:prstGeom xmlns:a="http://schemas.openxmlformats.org/drawingml/2006/main" prst="roundRect">
            <a:avLst>
              <a:gd name="adj" fmla="val 159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3bc3c04dbb4518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52450" y="1600200"/>
            <a:ext cx="1895475" cy="4095750"/>
          </a:xfrm>
          <a:prstGeom xmlns:a="http://schemas.openxmlformats.org/drawingml/2006/main" prst="roundRect">
            <a:avLst>
              <a:gd name="adj" fmla="val 14070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E6B7D86-15E1-497F-B0EF-DBBBE156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58578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ДАННЫЕ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C43CB47-396C-411F-ADCB-810B809D9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43175" y="1533525"/>
            <a:ext cx="2028825" cy="4229100"/>
          </a:xfrm>
          <a:prstGeom xmlns:a="http://schemas.openxmlformats.org/drawingml/2006/main" prst="roundRect">
            <a:avLst>
              <a:gd name="adj" fmla="val 159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bfed27a314c99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609850" y="1600200"/>
            <a:ext cx="1895475" cy="4095750"/>
          </a:xfrm>
          <a:prstGeom xmlns:a="http://schemas.openxmlformats.org/drawingml/2006/main" prst="roundRect">
            <a:avLst>
              <a:gd name="adj" fmla="val 14070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D3D3045-D84D-4AC3-B317-769DB7E8D3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33650" y="58578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ИСТОРИЯ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8EE6523-DDB5-48B0-B351-9941FF8C3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1533525"/>
            <a:ext cx="2028825" cy="4229100"/>
          </a:xfrm>
          <a:prstGeom xmlns:a="http://schemas.openxmlformats.org/drawingml/2006/main" prst="roundRect">
            <a:avLst>
              <a:gd name="adj" fmla="val 15962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18a4f032305407f"/>
          <a:srcRect xmlns:a="http://schemas.openxmlformats.org/drawingml/2006/main" l="0" t="76" r="0" b="7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667250" y="1600200"/>
            <a:ext cx="1895475" cy="4095750"/>
          </a:xfrm>
          <a:prstGeom xmlns:a="http://schemas.openxmlformats.org/drawingml/2006/main" prst="roundRect">
            <a:avLst>
              <a:gd name="adj" fmla="val 14070"/>
            </a:avLst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78514D4-D021-4F0C-8702-9BE7C7FE3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91050" y="5857875"/>
            <a:ext cx="204787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БРОНИ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C273A8D-63E4-4F86-8DD3-D62C4BB2CD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6764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ОБЩИЙ ПАТТЕРН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0BCEFEB-11AC-4E9A-8973-23E6E643B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1981200"/>
            <a:ext cx="40005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Имидж сверху.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Задача снизу.</a:t>
            </a:r>
          </a:p>
          <a:p xmlns:a="http://schemas.openxmlformats.org/drawingml/2006/main">
            <a:pPr algn="l">
              <a:lnSpc>
                <a:spcPct val="108000"/>
              </a:lnSpc>
              <a:buNone/>
              <a:def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5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Одно действие.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F56026B-40F1-4D21-93B0-E89AA0CC9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524250"/>
            <a:ext cx="3905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0065E1-31BD-4102-909E-4BA18BF128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38957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29EAD30-A839-4971-AB86-825D0B71E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3829050"/>
            <a:ext cx="3790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Одинаковая кнопка закрытия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378B9C-341B-49AE-8608-68F2CA7C47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30530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FF097D6-F8DF-4208-B3E2-A9368BC44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238625"/>
            <a:ext cx="3790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Белая curved surface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F22234-60AF-465F-8BA8-D6C0F8713E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47148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C41950-314C-4716-9183-14201FCD58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4648200"/>
            <a:ext cx="3790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CTA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D9951F-5E94-4E61-9DE7-90672A2B73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124450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7546AE8-EE36-440D-B992-C3167BEB9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96150" y="5057775"/>
            <a:ext cx="3790950" cy="3905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35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Понятные empty states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32260AA-EB8A-4E42-8967-0400866EF2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86600" y="5495925"/>
            <a:ext cx="409575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C4E80E-F48A-4C03-A525-3067F68AB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629275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ЕДИНАЯ СИСТЕМА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CB855DD-970B-4445-8CEE-D1A27832D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8050" y="5857875"/>
            <a:ext cx="37528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7370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Структура стабильна; art direction изображений стоит унифицировать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BCED618-A364-46AA-A892-4BD7A7F8ED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85A341-CD0A-4314-8F58-56E54082BE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17</a:t>
            </a:r>
          </a:p>
        </p:txBody>
      </p:sp>
    </p:spTree>
    <p:extLst>
      <p:ext uri="{BB962C8B-B14F-4D97-AF65-F5344CB8AC3E}">
        <p14:creationId xmlns:p14="http://schemas.microsoft.com/office/powerpoint/2010/main" val="2030609491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817D93C-129A-414D-ACBA-2AE4CF571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17 / ФИНАНСЫ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16868B-51FC-41CB-A18C-91A2EEF87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72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88b9f17d1324d20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9448838-3229-495B-A0CC-A0979FB6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ПОДПИСКИ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5DC8CA-2AC3-4829-9C1F-D8BE1C1D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47975" y="1000125"/>
            <a:ext cx="2276475" cy="4781550"/>
          </a:xfrm>
          <a:prstGeom xmlns:a="http://schemas.openxmlformats.org/drawingml/2006/main" prst="roundRect">
            <a:avLst>
              <a:gd name="adj" fmla="val 14226"/>
            </a:avLst>
          </a:prstGeom>
          <a:solidFill xmlns:a="http://schemas.openxmlformats.org/drawingml/2006/main">
            <a:srgbClr val="0F172A"/>
          </a:solidFill>
          <a:ln xmlns:a="http://schemas.openxmlformats.org/drawingml/2006/main" w="0">
            <a:noFill/>
            <a:prstDash val="solid"/>
          </a:ln>
        </p:spPr>
      </p:sp>
      <p:pic>
        <p:nvPicPr>
          <p:cNvPr id="3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ee61f8c78254f26"/>
          <a:srcRect xmlns:a="http://schemas.openxmlformats.org/drawingml/2006/main" l="110" t="0" r="11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2914650" y="1066800"/>
            <a:ext cx="2143125" cy="4648200"/>
          </a:xfrm>
          <a:prstGeom xmlns:a="http://schemas.openxmlformats.org/drawingml/2006/main" prst="roundRect">
            <a:avLst>
              <a:gd name="adj" fmla="val 12444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E3D681-4E11-4293-A342-6AA0C0E18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876925"/>
            <a:ext cx="2295525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ДЕПОЗИТ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C69B89-D403-4B02-BD78-5059ADDB85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781050"/>
            <a:ext cx="590550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8000"/>
              </a:lnSpc>
              <a:buNone/>
              <a:def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30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Подписки и депозит делают деньги понятными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DB083D2-EEB7-4BB2-B8FF-0955C994E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0955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ОБЩЕЕ ПРЕИМУЩЕСТВО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60D8B1-F847-4C55-BBED-50CE5B9AB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2333625"/>
            <a:ext cx="5715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2000"/>
              </a:lnSpc>
              <a:buNone/>
              <a:def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8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Финансовые действия остаются ясными даже на маленьком экране.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179C52-7AC1-4154-BAB2-38CA43FD0C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238500"/>
            <a:ext cx="5715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BAF6F2-B7A9-4E0C-8FDB-F6C50FED9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5052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ЧТО ОБЪЕДИНЯЕТ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415B52F-ECF8-42C7-9365-FFBB3BEC9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8195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7049587-5ED7-4F73-8459-457E77C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37528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Крупные суммы и тарифы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AD79138-13DE-4753-BD03-22F60EA45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2195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D7FB93-2B69-4C2C-A589-129ED2BA8A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1529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Tiffany-gradient обозначает финансовую зону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6839DFD-88CB-4848-BE6E-C16FE95D9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46196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7820F34-3350-4D7F-90D7-7CBBF05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55295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Белые surfaces разделяют задачи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DAD66D8-B18C-429D-A14C-8DFA0B243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019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315011D-52C8-44C5-A6B9-0AFB3E80C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81675" y="4953000"/>
            <a:ext cx="55054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Основное действие всегда заметно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282FA7D-A067-4291-9EEB-F21C10F57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5448300"/>
            <a:ext cx="5715000" cy="781050"/>
          </a:xfrm>
          <a:prstGeom xmlns:a="http://schemas.openxmlformats.org/drawingml/2006/main" prst="roundRect">
            <a:avLst>
              <a:gd name="adj" fmla="val 2439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BBD618E-F057-4F47-B081-2A5F604FB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581650"/>
            <a:ext cx="18097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СВЯЗЬ С СИСТЕМОЙ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5F54830-AD7C-42C8-9434-83C7CE87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43575" y="5810250"/>
            <a:ext cx="5372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2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Высокая — разные функции используют общий финансовый тон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B95DE34-A5E5-488E-B94A-C672D65A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7E9D81F-80F7-4A36-945E-5A6611CED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115142216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BB138F7-455B-47CB-8727-B54B1CD86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18 / ЕДИНСТВО СИСТЕМЫ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6816C9A-F6B3-4BC7-9A01-982DD2422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723900"/>
            <a:ext cx="10287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8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285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Стилистика едина в ядре — исключения точечные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74E9872-1BB3-4E03-8C07-A7A327BFB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57300"/>
            <a:ext cx="8191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defRPr>
            </a:pPr>
            <a:r>
              <a:rPr sz="1275" b="0" i="0">
                <a:solidFill>
                  <a:srgbClr val="64748B"/>
                </a:solidFill>
                <a:latin typeface="Montserrat"/>
                <a:ea typeface="Montserrat"/>
                <a:cs typeface="Montserrat"/>
              </a:rPr>
              <a:t>Критерии: header, палитра, типографика, surfaces и роль фотографии.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19F61E9-4CCF-4D6F-AB09-93DCA47458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954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F06D9-FEB7-41C7-8E1C-F6CF50ED1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240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ЯДРО ПРОДУКТА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9848006-71B3-4E30-B8BC-0DD8E525E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0859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Аукцион · Доли · Долги · Тест-драйв · Объект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387798-F044-4B8E-94A4-A08F030C68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47875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18F542D-63BC-4F35-BB31-7A4EDBDDF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0478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ВЫСОКАЯ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10DE48D-9F1B-4AF6-BC41-71AC8EDEE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7908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50186EB-D078-4804-A93D-65BA70B426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194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ДОВЕРИЕ И РОЛИ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EE184D-E25F-465C-BEE9-EB266FB4AE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9813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 нас · Покупатель · Продавец · Профиль · Депозит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5CB3491-1FBD-457A-9C7D-B21919F3D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9525">
            <a:solidFill>
              <a:srgbClr val="15803D">
                <a:alpha val="2200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5E68CA-413F-43D8-8051-604EDB258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29432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ВЫСОКАЯ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538E5A6-A5B9-499F-B801-FDE9ACA46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68617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4A2E608-1013-4C1E-A3EC-2487DB205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1477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ВОВЛЕЧЕНИЕ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6359E6-51BD-4376-8022-4FBBD4BFA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7667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Бонусы · VIP-клуб · Главная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AE78B2F-9999-43DD-B20B-B5A9DC0F2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38575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7ED"/>
          </a:solidFill>
          <a:ln xmlns:a="http://schemas.openxmlformats.org/drawingml/2006/main" w="9525">
            <a:solidFill>
              <a:srgbClr val="B45309">
                <a:alpha val="2200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8B3215-5B68-43A5-A75F-4CB004835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383857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B45309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B45309"/>
                </a:solidFill>
                <a:latin typeface="Montserrat"/>
                <a:ea typeface="Montserrat"/>
                <a:cs typeface="Montserrat"/>
              </a:rPr>
              <a:t>СРЕДНЯЯ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BE9A993-D601-49CC-8AAA-240BBDBA1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815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EFC03D-C3CD-4C2A-ACA2-D69ABF3688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810125"/>
            <a:ext cx="2190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1050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ИНСТРУМЕНТЫ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A8F39CB-0D45-4D65-989A-DA36831033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772025"/>
            <a:ext cx="619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Понравилось · Сравнение · Умная панель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F5C5EB5-DD5E-4E0B-8B8A-5F4C64803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33925"/>
            <a:ext cx="2095500" cy="400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EF2F2"/>
          </a:solidFill>
          <a:ln xmlns:a="http://schemas.openxmlformats.org/drawingml/2006/main" w="9525">
            <a:solidFill>
              <a:srgbClr val="DC2626">
                <a:alpha val="2200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391F412-1C30-4EEA-9E38-308051531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91650" y="4733925"/>
            <a:ext cx="2095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900" b="1" i="0">
                <a:solidFill>
                  <a:srgbClr val="DC2626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DC2626"/>
                </a:solidFill>
                <a:latin typeface="Montserrat"/>
                <a:ea typeface="Montserrat"/>
                <a:cs typeface="Montserrat"/>
              </a:rPr>
              <a:t>НЕРАВНОМЕРНАЯ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B184366-E181-45F2-BCF8-A8BF525CE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33273BA-0F5D-4269-9BD6-4467AED1FF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29300"/>
            <a:ext cx="2095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defRPr>
            </a:pPr>
            <a:r>
              <a:rPr sz="975" b="1" i="0">
                <a:solidFill>
                  <a:srgbClr val="007D8A"/>
                </a:solidFill>
                <a:latin typeface="Montserrat"/>
                <a:ea typeface="Montserrat"/>
                <a:cs typeface="Montserrat"/>
              </a:rPr>
              <a:t>Главный вывод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B1965DF3-A9E0-40F5-9E14-BC4BE6653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753100"/>
            <a:ext cx="8572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85453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725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Пользователь узнаёт SellYourBrick по фото, крупному Montserrat, белым surfaces и Tiffany-действиям.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D04CBAB-6724-4314-B9F8-ECE8B7F383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15100"/>
            <a:ext cx="533400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750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SELLYOURBRICK  •  MOBILE PRODUCT SHOWCASE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148E428-4A9B-4614-AAD5-F0AA41AE4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86525"/>
            <a:ext cx="4381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defRPr>
            </a:pPr>
            <a:r>
              <a:rPr sz="825" b="1" i="0">
                <a:solidFill>
                  <a:srgbClr val="94A3B8"/>
                </a:solidFill>
                <a:latin typeface="Montserrat"/>
                <a:ea typeface="Montserrat"/>
                <a:cs typeface="Montserrat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1294015456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0F1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4627B9E-EDA6-4639-8798-756B531D2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8150"/>
            <a:ext cx="585787" cy="343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Sell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CFAC597-5F0F-498E-B31A-7E235C137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9767" y="453771"/>
            <a:ext cx="656082" cy="312420"/>
          </a:xfrm>
          <a:prstGeom xmlns:a="http://schemas.openxmlformats.org/drawingml/2006/main" prst="roundRect">
            <a:avLst>
              <a:gd name="adj" fmla="val 325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7DE2B45-58C4-4E51-9718-D8C01D5D0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5388" y="438150"/>
            <a:ext cx="640461" cy="343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Your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F8F5749-CEE9-4F62-A660-8460C46EF3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74901" y="438150"/>
            <a:ext cx="781050" cy="34366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2091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Brick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75F0CD2-E790-4CBA-B0E0-EB0C07476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5619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3000"/>
              </a:lnSpc>
              <a:buNone/>
              <a:def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СИСТЕМА УЖЕ</a:t>
            </a:r>
          </a:p>
          <a:p xmlns:a="http://schemas.openxmlformats.org/drawingml/2006/main">
            <a:pPr algn="l">
              <a:lnSpc>
                <a:spcPct val="93000"/>
              </a:lnSpc>
              <a:buNone/>
              <a:def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defRPr>
            </a:pPr>
            <a:r>
              <a:rPr sz="4350" b="1" i="0">
                <a:solidFill>
                  <a:srgbClr val="FFFFFF"/>
                </a:solidFill>
                <a:latin typeface="Montserrat"/>
                <a:ea typeface="Montserrat"/>
                <a:cs typeface="Montserrat"/>
              </a:rPr>
              <a:t>УЗНАВАЕМА.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7AE418-7615-4F7B-AA17-D7CFD66E9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86125"/>
            <a:ext cx="4953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rPr>
              <a:t>Нужно не менять характер,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1800" b="0" i="0">
                <a:solidFill>
                  <a:srgbClr val="FFFFFF">
                    <a:alpha val="76000"/>
                  </a:srgbClr>
                </a:solidFill>
                <a:latin typeface="Montserrat"/>
                <a:ea typeface="Montserrat"/>
                <a:cs typeface="Montserrat"/>
              </a:rPr>
              <a:t>а вернуть исключения в общий язык.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DA79B6E-7837-42A2-97AA-70211B32C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876300"/>
            <a:ext cx="4762500" cy="5334000"/>
          </a:xfrm>
          <a:prstGeom xmlns:a="http://schemas.openxmlformats.org/drawingml/2006/main" prst="roundRect">
            <a:avLst>
              <a:gd name="adj" fmla="val 68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20937C5-B9E3-4C51-9A1F-7AF2EDAA7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31445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15803D"/>
                </a:solidFill>
                <a:latin typeface="Montserrat"/>
                <a:ea typeface="Montserrat"/>
                <a:cs typeface="Montserrat"/>
              </a:rPr>
              <a:t>СОХРАНЯЕМ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F58858B-8793-4FCE-AEAA-26620779C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17430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DF4104-D6E1-46DA-A2D1-11428D5C4E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16764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Фото-led hero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74AD62D-1B5D-41DA-8B2F-278206688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2002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FF5A919-349D-4268-A540-EE4D37582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1336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Tiffany как навигация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80D733-6AC8-45FA-91DD-F321FEA5D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26574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1C7A349-89E7-4B7A-AF93-4C2E52888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908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Белые rounded surfaces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12F887A-D158-4B86-8A48-82CBC555D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11467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03F0CD0-3D3F-4E86-8725-FEC9315BE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3048000"/>
            <a:ext cx="36004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Один главный CTA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2E435FA-105E-40F2-95FB-D5F1413EC6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638550"/>
            <a:ext cx="3810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E2E8F0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6587019-54B3-41BA-91BB-A5EBA462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3962400"/>
            <a:ext cx="2667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DC2626"/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DC2626"/>
                </a:solidFill>
                <a:latin typeface="Montserrat"/>
                <a:ea typeface="Montserrat"/>
                <a:cs typeface="Montserrat"/>
              </a:rPr>
              <a:t>ВЫРАВНИВАЕМ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720F873-FCC6-435D-8976-AFE620B61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3910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6BAE1AD-7497-4604-A14C-1F466B631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3243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1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Умную панель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F0CF699-5E8E-4C43-8519-FD4617947E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48101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A92E385-D78E-406F-98E4-CCAA3174F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7434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Сравнение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67B368-1511-40DB-9E0C-B46188CB72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2292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F7F12FE-03D5-487E-8F46-F17553AE89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1625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VIP-акцент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95083F2-8A53-448B-9F80-DC583CCAD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81850" y="5648325"/>
            <a:ext cx="76200" cy="762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99A9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32CAB06-1104-4490-A99F-DFE45440BC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5581650"/>
            <a:ext cx="36004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defRPr>
            </a:pPr>
            <a:r>
              <a:rPr sz="1500" b="0" i="0">
                <a:solidFill>
                  <a:srgbClr val="0F172A"/>
                </a:solidFill>
                <a:latin typeface="Montserrat"/>
                <a:ea typeface="Montserrat"/>
                <a:cs typeface="Montserrat"/>
              </a:rPr>
              <a:t>Art direction профиля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01B630-4C42-4F41-BDBE-D32BA963C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191250"/>
            <a:ext cx="476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1" i="0">
                <a:solidFill>
                  <a:srgbClr val="FFFFFF">
                    <a:alpha val="58000"/>
                  </a:srgbClr>
                </a:solidFill>
                <a:latin typeface="Montserrat"/>
                <a:ea typeface="Montserrat"/>
                <a:cs typeface="Montserrat"/>
              </a:defRPr>
            </a:pPr>
            <a:r>
              <a:rPr sz="900" b="1" i="0">
                <a:solidFill>
                  <a:srgbClr val="FFFFFF">
                    <a:alpha val="58000"/>
                  </a:srgbClr>
                </a:solidFill>
                <a:latin typeface="Montserrat"/>
                <a:ea typeface="Montserrat"/>
                <a:cs typeface="Montserrat"/>
              </a:rPr>
              <a:t>MOBILE PRODUCT SHOWCASE  •  2026</a:t>
            </a:r>
          </a:p>
        </p:txBody>
      </p:sp>
    </p:spTree>
    <p:extLst>
      <p:ext uri="{BB962C8B-B14F-4D97-AF65-F5344CB8AC3E}">
        <p14:creationId xmlns:p14="http://schemas.microsoft.com/office/powerpoint/2010/main" val="103716439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2026-08-23T13:27:29.3730000Z</dcterms:created>
  <dcterms:modified xsi:type="dcterms:W3CDTF">2026-08-23T13:27:29.3730000Z</dcterms:modified>
</coreProperties>
</file>